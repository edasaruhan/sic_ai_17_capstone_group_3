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5" r:id="rId27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EC5725-127F-4F74-B578-DAD21D867907}" v="38" dt="2026-08-09T07:20:54.7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5/10/relationships/revisionInfo" Target="revisionInfo.xml"/><Relationship Id="rId27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69C462-32BA-4C2A-A30E-944501E2D193}" type="datetimeFigureOut">
              <a:t>8/9/2026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4EB0C-7B7D-4B6F-A673-8465EEBF232A}" type="slidenum"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80979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601968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A6B4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ARGUS · Ayşe Ulaşlı · Gizem Özcan · Samsung Innovation Campus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521440" y="651967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650">
                <a:solidFill>
                  <a:srgbClr val="A0AAB9"/>
                </a:solidFill>
                <a:latin typeface="Aptos"/>
              </a:rPr>
              <a:t>01</a:t>
            </a:r>
            <a:endParaRPr lang="en-US" sz="600" dirty="0"/>
          </a:p>
        </p:txBody>
      </p:sp>
      <p:sp>
        <p:nvSpPr>
          <p:cNvPr id="4" name="Shape 2"/>
          <p:cNvSpPr/>
          <p:nvPr/>
        </p:nvSpPr>
        <p:spPr>
          <a:xfrm>
            <a:off x="9966960" y="1508760"/>
            <a:ext cx="1371600" cy="1371600"/>
          </a:xfrm>
          <a:prstGeom prst="arc">
            <a:avLst/>
          </a:prstGeom>
          <a:noFill/>
          <a:ln w="88900">
            <a:solidFill>
              <a:srgbClr val="1B4E8A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0" y="3749040"/>
            <a:ext cx="2194560" cy="2194560"/>
          </a:xfrm>
          <a:prstGeom prst="ellipse">
            <a:avLst/>
          </a:prstGeom>
          <a:solidFill>
            <a:srgbClr val="1B4E8A">
              <a:alpha val="12000"/>
            </a:srgbClr>
          </a:solidFill>
          <a:ln w="12700">
            <a:solidFill>
              <a:srgbClr val="1B4E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4360" y="50292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D2E4E"/>
          </a:solidFill>
          <a:ln w="12700">
            <a:solidFill>
              <a:srgbClr val="0D2E4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04088" y="576072"/>
            <a:ext cx="1792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>
                <a:solidFill>
                  <a:srgbClr val="84E2D8"/>
                </a:solidFill>
              </a:rPr>
              <a:t>FINTECH · CAPSTONE PROJECT</a:t>
            </a:r>
            <a:endParaRPr lang="en-US" sz="80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ARGUS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21792" y="20574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4E3F4"/>
                </a:solidFill>
              </a:rPr>
              <a:t>Graf Tabanlı Finansal Suç ve Hesap Ağı İstihbaratı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" y="283464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7F73"/>
                </a:solidFill>
              </a:rPr>
              <a:t>Şüpheli işlemlerden şüpheli ağlara.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1792" y="3337560"/>
            <a:ext cx="2834640" cy="0"/>
          </a:xfrm>
          <a:prstGeom prst="line">
            <a:avLst/>
          </a:prstGeom>
          <a:noFill/>
          <a:ln w="25400">
            <a:solidFill>
              <a:srgbClr val="087F7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1792" y="621792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FC3D8"/>
                </a:solidFill>
              </a:rPr>
              <a:t>Ayşe Ulaşlı · Gizem Özcan · Ağustos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601968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AAB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ARGUS · Ayşe Ulaşlı · Gizem Özcan · Samsung Innovation Campus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521440" y="651967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650">
                <a:solidFill>
                  <a:srgbClr val="A0AAB9"/>
                </a:solidFill>
                <a:latin typeface="Aptos"/>
              </a:rPr>
              <a:t>02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Tek İşlem Normal, Ağ Şüpheli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3657600" cy="2834640"/>
          </a:xfrm>
          <a:prstGeom prst="roundRect">
            <a:avLst>
              <a:gd name="adj" fmla="val 1613"/>
            </a:avLst>
          </a:prstGeom>
          <a:solidFill>
            <a:srgbClr val="F8FBFF"/>
          </a:solidFill>
          <a:ln w="12700">
            <a:solidFill>
              <a:srgbClr val="DDE8F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16642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Tek tek bakıldığında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</a:rPr>
              <a:t>Ayşe → Mehmet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54680" y="20574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53E73"/>
                </a:solidFill>
              </a:rPr>
              <a:t>9.800 TL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</a:rPr>
              <a:t>Mehmet → Ali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54680" y="24688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53E73"/>
                </a:solidFill>
              </a:rPr>
              <a:t>9.500 TL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8803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</a:rPr>
              <a:t>Ali → X Şirketi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54680" y="28803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53E73"/>
                </a:solidFill>
              </a:rPr>
              <a:t>9.300 TL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3493008"/>
            <a:ext cx="2926080" cy="0"/>
          </a:xfrm>
          <a:prstGeom prst="line">
            <a:avLst/>
          </a:prstGeom>
          <a:noFill/>
          <a:ln w="12700">
            <a:solidFill>
              <a:srgbClr val="D8E4F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3685032"/>
            <a:ext cx="2926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</a:rPr>
              <a:t>Üç işlem de tekil olarak olağan görünebilir.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1417320"/>
            <a:ext cx="6675120" cy="2834640"/>
          </a:xfrm>
          <a:prstGeom prst="roundRect">
            <a:avLst>
              <a:gd name="adj" fmla="val 1613"/>
            </a:avLst>
          </a:prstGeom>
          <a:solidFill>
            <a:srgbClr val="F7FBFA"/>
          </a:solidFill>
          <a:ln w="12700">
            <a:solidFill>
              <a:srgbClr val="CBEC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74920" y="16642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Ağ birlikte incelendiğinde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66360" y="2171700"/>
            <a:ext cx="64008" cy="64008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285232" y="212140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7324D"/>
                </a:solidFill>
              </a:rPr>
              <a:t>20 farklı hesaptan gelen para birkaç düğümde toplanıyor.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5166360" y="2592324"/>
            <a:ext cx="64008" cy="64008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285232" y="254203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7324D"/>
                </a:solidFill>
              </a:rPr>
              <a:t>Dakikalar içinde küçük parçalara bölünerek çıkış noktasına gidiyor.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166360" y="3012948"/>
            <a:ext cx="64008" cy="64008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285232" y="296265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7324D"/>
                </a:solidFill>
              </a:rPr>
              <a:t>Dairesel akış ve hızlı el değiştirme tekil skorda görünmüyor.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5166360" y="365760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3E73"/>
                </a:solidFill>
              </a:rPr>
              <a:t>ARGUS’un sorduğu soru: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95160" y="35935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2336"/>
                </a:solidFill>
              </a:rPr>
              <a:t>“Bu para hareketlerinin arkasında organize bir ağ var mı?”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" y="4892040"/>
            <a:ext cx="10881360" cy="594360"/>
          </a:xfrm>
          <a:prstGeom prst="roundRect">
            <a:avLst>
              <a:gd name="adj" fmla="val 7692"/>
            </a:avLst>
          </a:prstGeom>
          <a:solidFill>
            <a:srgbClr val="071A2D"/>
          </a:solidFill>
          <a:ln w="12700">
            <a:solidFill>
              <a:srgbClr val="071A2D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2960" y="5093208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Klasik model işlem bazında iyi skor üretir; ARGUS paranın arkasındaki ilişki ağını öğrenir.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601968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AAB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ARGUS · Ayşe Ulaşlı · Gizem Özcan · Samsung Innovation Campus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521440" y="651967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650">
                <a:solidFill>
                  <a:srgbClr val="A0AAB9"/>
                </a:solidFill>
                <a:latin typeface="Aptos"/>
              </a:rPr>
              <a:t>03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PAZAR BAĞLAMI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Güncel ve Ölçülebilir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2834640" cy="1051560"/>
          </a:xfrm>
          <a:prstGeom prst="roundRect">
            <a:avLst>
              <a:gd name="adj" fmla="val 4348"/>
            </a:avLst>
          </a:prstGeom>
          <a:solidFill>
            <a:srgbClr val="071A2D"/>
          </a:solidFill>
          <a:ln w="12700">
            <a:solidFill>
              <a:srgbClr val="E0EBF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13816" y="160020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+%12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3816" y="1984248"/>
            <a:ext cx="2578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7FBFF"/>
                </a:solidFill>
              </a:rPr>
              <a:t>Project Hertha: ilave tespit edilen yasadışı hesap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0" y="1417320"/>
            <a:ext cx="2834640" cy="1051560"/>
          </a:xfrm>
          <a:prstGeom prst="roundRect">
            <a:avLst>
              <a:gd name="adj" fmla="val 4348"/>
            </a:avLst>
          </a:prstGeom>
          <a:solidFill>
            <a:srgbClr val="087F73"/>
          </a:solidFill>
          <a:ln w="12700">
            <a:solidFill>
              <a:srgbClr val="E0EBF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785616" y="160020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+%26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785616" y="1984248"/>
            <a:ext cx="2578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7FBFF"/>
                </a:solidFill>
              </a:rPr>
              <a:t>Daha önce görülmemiş örüntülerde iyileşme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29400" y="1417320"/>
            <a:ext cx="2834640" cy="1051560"/>
          </a:xfrm>
          <a:prstGeom prst="roundRect">
            <a:avLst>
              <a:gd name="adj" fmla="val 4348"/>
            </a:avLst>
          </a:prstGeom>
          <a:solidFill>
            <a:srgbClr val="B42336"/>
          </a:solidFill>
          <a:ln w="12700">
            <a:solidFill>
              <a:srgbClr val="E0EBF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757416" y="160020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€4,2B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57416" y="1984248"/>
            <a:ext cx="2578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7FBFF"/>
                </a:solidFill>
              </a:rPr>
              <a:t>Avrupa’da ödeme dolandırıcılığı değeri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601200" y="1417320"/>
            <a:ext cx="1920240" cy="1051560"/>
          </a:xfrm>
          <a:prstGeom prst="roundRect">
            <a:avLst>
              <a:gd name="adj" fmla="val 4348"/>
            </a:avLst>
          </a:prstGeom>
          <a:solidFill>
            <a:srgbClr val="4936A8"/>
          </a:solidFill>
          <a:ln w="12700">
            <a:solidFill>
              <a:srgbClr val="E0EBF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729216" y="160020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39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729216" y="1984248"/>
            <a:ext cx="1664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7FBFF"/>
                </a:solidFill>
              </a:rPr>
              <a:t>Türkiye’de API sertifikasyonunu tamamlayan ödeme hizmeti sağlayıcısı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14400" y="3063240"/>
            <a:ext cx="10149840" cy="0"/>
          </a:xfrm>
          <a:prstGeom prst="line">
            <a:avLst/>
          </a:prstGeom>
          <a:noFill/>
          <a:ln w="25400">
            <a:solidFill>
              <a:srgbClr val="DCE8F5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179576" y="2962656"/>
            <a:ext cx="201168" cy="201168"/>
          </a:xfrm>
          <a:prstGeom prst="ellipse">
            <a:avLst/>
          </a:prstGeom>
          <a:solidFill>
            <a:srgbClr val="071A2D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014216" y="2962656"/>
            <a:ext cx="201168" cy="201168"/>
          </a:xfrm>
          <a:prstGeom prst="ellipse">
            <a:avLst/>
          </a:prstGeom>
          <a:solidFill>
            <a:srgbClr val="087F73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848856" y="2962656"/>
            <a:ext cx="201168" cy="201168"/>
          </a:xfrm>
          <a:prstGeom prst="ellipse">
            <a:avLst/>
          </a:prstGeom>
          <a:solidFill>
            <a:srgbClr val="B42336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683496" y="2962656"/>
            <a:ext cx="201168" cy="201168"/>
          </a:xfrm>
          <a:prstGeom prst="ellipse">
            <a:avLst/>
          </a:prstGeom>
          <a:solidFill>
            <a:srgbClr val="4936A8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97280" y="37490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</a:rPr>
              <a:t>Ödeme ağları büyüdükçe, finansal suçun tek işlemden çok ağ davranışı olarak izlenmesi kritik hale geliyor.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08760" y="4786884"/>
            <a:ext cx="64008" cy="64008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627632" y="473659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7324D"/>
                </a:solidFill>
              </a:rPr>
              <a:t>Gerçek banka verisine girmeden sentetik AML verisiyle kavram kanıtı kurulabilir.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1508760" y="5125212"/>
            <a:ext cx="64008" cy="64008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627632" y="507492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7324D"/>
                </a:solidFill>
              </a:rPr>
              <a:t>Kişisel veriyle otomatik hüküm vermez; analistin inceleme önceliğini destekler.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1508760" y="5463540"/>
            <a:ext cx="64008" cy="64008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627632" y="5413248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7324D"/>
                </a:solidFill>
              </a:rPr>
              <a:t>Yanlış alarm, gizlilik ve mevzuat riskleri proje kapsamında sorumlu yapay zekâ ilkeleriyle yönetilir.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502920" y="6355080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dirty="0">
                <a:solidFill>
                  <a:srgbClr val="667085"/>
                </a:solidFill>
              </a:rPr>
              <a:t>Kaynak: BIS Project Hertha (2025); EBA-ECB Ödeme Dolandırıcılığı Raporu (2025); TCMB/BKM açık bankacılık güncellemeleri</a:t>
            </a:r>
            <a:endParaRPr lang="en-US" sz="5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601968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AAB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ARGUS · Ayşe Ulaşlı · Gizem Özcan · Samsung Innovation Campus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521440" y="651967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650">
                <a:solidFill>
                  <a:srgbClr val="A0AAB9"/>
                </a:solidFill>
                <a:latin typeface="Aptos"/>
              </a:rPr>
              <a:t>04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REKABET VE FARKLILAŞMA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Bunu Yapan Var mı? Bizim Farkımız Ne?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07008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7324D"/>
                </a:solidFill>
              </a:rPr>
              <a:t>Evet — finansal suç teknolojileri tarafında graf analitiği, davranışsal anomali tespiti ve AML platformları var. ARGUS’un amacı “dünyada ilk” demek değil; bu güçlü yaklaşımları öğrenci ölçeğinde, açıklanabilir ve uçtan uca bir karar destek prototipine dönüştürmek.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2606040" cy="3154680"/>
          </a:xfrm>
          <a:prstGeom prst="roundRect">
            <a:avLst>
              <a:gd name="adj" fmla="val 1754"/>
            </a:avLst>
          </a:prstGeom>
          <a:solidFill>
            <a:srgbClr val="F8FBFF"/>
          </a:solidFill>
          <a:ln w="12700">
            <a:solidFill>
              <a:srgbClr val="BDEDE7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04672" y="2267712"/>
            <a:ext cx="384048" cy="384048"/>
          </a:xfrm>
          <a:prstGeom prst="ellipse">
            <a:avLst/>
          </a:prstGeom>
          <a:solidFill>
            <a:srgbClr val="087F73"/>
          </a:solidFill>
          <a:ln w="1524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04672" y="238658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27706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324D"/>
                </a:solidFill>
              </a:rPr>
              <a:t>Graf analitiği platformları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868680" y="3401568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87F73"/>
                </a:solidFill>
              </a:rPr>
              <a:t>Piyasada ne var?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3639312"/>
            <a:ext cx="208483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667085"/>
                </a:solidFill>
              </a:rPr>
              <a:t>Quantexa gibi çözümler ilişkileri ve para akışını graf üzerinde görünür kılar.</a:t>
            </a:r>
            <a:endParaRPr lang="en-US" sz="790" dirty="0"/>
          </a:p>
        </p:txBody>
      </p:sp>
      <p:sp>
        <p:nvSpPr>
          <p:cNvPr id="13" name="Text 11"/>
          <p:cNvSpPr/>
          <p:nvPr/>
        </p:nvSpPr>
        <p:spPr>
          <a:xfrm>
            <a:off x="868680" y="4370832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87F73"/>
                </a:solidFill>
              </a:rPr>
              <a:t>ARGUS farkı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896112" y="4608576"/>
            <a:ext cx="20848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7324D"/>
                </a:solidFill>
              </a:rPr>
              <a:t>ARGUS bunu açık veriyle yeniden kurar; GNN + vaka açıklaması + analist önceliklendirmesini tek demo akışına bağlar.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3520440" y="2057400"/>
            <a:ext cx="2606040" cy="3154680"/>
          </a:xfrm>
          <a:prstGeom prst="roundRect">
            <a:avLst>
              <a:gd name="adj" fmla="val 1754"/>
            </a:avLst>
          </a:prstGeom>
          <a:solidFill>
            <a:srgbClr val="F7FAFE"/>
          </a:solidFill>
          <a:ln w="12700">
            <a:solidFill>
              <a:srgbClr val="DDE8F4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685032" y="2267712"/>
            <a:ext cx="384048" cy="384048"/>
          </a:xfrm>
          <a:prstGeom prst="ellipse">
            <a:avLst/>
          </a:prstGeom>
          <a:solidFill>
            <a:srgbClr val="153E73"/>
          </a:solidFill>
          <a:ln w="1524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685032" y="238658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27706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324D"/>
                </a:solidFill>
              </a:rPr>
              <a:t>Fraud / AML risk platformları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3749040" y="3401568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53E73"/>
                </a:solidFill>
              </a:rPr>
              <a:t>Piyasada ne var?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3776472" y="3639312"/>
            <a:ext cx="208483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667085"/>
                </a:solidFill>
              </a:rPr>
              <a:t>Feedzai, Featurespace ve SAS gibi ürünler gerçek zamanlı risk, anomali ve AML iş akışlarını yönetir.</a:t>
            </a:r>
            <a:endParaRPr lang="en-US" sz="790" dirty="0"/>
          </a:p>
        </p:txBody>
      </p:sp>
      <p:sp>
        <p:nvSpPr>
          <p:cNvPr id="21" name="Text 19"/>
          <p:cNvSpPr/>
          <p:nvPr/>
        </p:nvSpPr>
        <p:spPr>
          <a:xfrm>
            <a:off x="3749040" y="4370832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53E73"/>
                </a:solidFill>
              </a:rPr>
              <a:t>ARGUS farkı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3776472" y="4608576"/>
            <a:ext cx="20848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7324D"/>
                </a:solidFill>
              </a:rPr>
              <a:t>ARGUS yalnızca skor üretmez; “neden bu ağ?” sorusunu ve sınırlı analist kapasitesi kararını birlikte ele alır.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6400800" y="2057400"/>
            <a:ext cx="2606040" cy="3154680"/>
          </a:xfrm>
          <a:prstGeom prst="roundRect">
            <a:avLst>
              <a:gd name="adj" fmla="val 1754"/>
            </a:avLst>
          </a:prstGeom>
          <a:solidFill>
            <a:srgbClr val="F8FBFF"/>
          </a:solidFill>
          <a:ln w="12700">
            <a:solidFill>
              <a:srgbClr val="D8D0FF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565392" y="2267712"/>
            <a:ext cx="384048" cy="384048"/>
          </a:xfrm>
          <a:prstGeom prst="ellipse">
            <a:avLst/>
          </a:prstGeom>
          <a:solidFill>
            <a:srgbClr val="4936A8"/>
          </a:solidFill>
          <a:ln w="1524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565392" y="238658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29400" y="27706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324D"/>
                </a:solidFill>
              </a:rPr>
              <a:t>Araştırma ve merkez bankası projeleri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6629400" y="3401568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936A8"/>
                </a:solidFill>
              </a:rPr>
              <a:t>Piyasada ne var?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6656832" y="3639312"/>
            <a:ext cx="208483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667085"/>
                </a:solidFill>
              </a:rPr>
              <a:t>BIS Project Hertha ağ geneli ödeme analitiğinin yeni örüntüleri yakalamada değerli olduğunu gösterir.</a:t>
            </a:r>
            <a:endParaRPr lang="en-US" sz="790" dirty="0"/>
          </a:p>
        </p:txBody>
      </p:sp>
      <p:sp>
        <p:nvSpPr>
          <p:cNvPr id="29" name="Text 27"/>
          <p:cNvSpPr/>
          <p:nvPr/>
        </p:nvSpPr>
        <p:spPr>
          <a:xfrm>
            <a:off x="6629400" y="4370832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936A8"/>
                </a:solidFill>
              </a:rPr>
              <a:t>ARGUS farkı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6656832" y="4608576"/>
            <a:ext cx="20848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7324D"/>
                </a:solidFill>
              </a:rPr>
              <a:t>ARGUS bu fikri jüriye gösterilebilir Network Investigator paneli, Türkçe vaka özeti ve GTM planıyla ürünleştirir.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9281160" y="2057400"/>
            <a:ext cx="2606040" cy="3154680"/>
          </a:xfrm>
          <a:prstGeom prst="roundRect">
            <a:avLst>
              <a:gd name="adj" fmla="val 1754"/>
            </a:avLst>
          </a:prstGeom>
          <a:solidFill>
            <a:srgbClr val="F7FAFE"/>
          </a:solidFill>
          <a:ln w="12700">
            <a:solidFill>
              <a:srgbClr val="FFD5DA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9445752" y="2267712"/>
            <a:ext cx="384048" cy="384048"/>
          </a:xfrm>
          <a:prstGeom prst="ellipse">
            <a:avLst/>
          </a:prstGeom>
          <a:solidFill>
            <a:srgbClr val="B42336"/>
          </a:solidFill>
          <a:ln w="1524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445752" y="238658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509760" y="27706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324D"/>
                </a:solidFill>
              </a:rPr>
              <a:t>Açık kaynak GNN / veri setleri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9509760" y="3401568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B42336"/>
                </a:solidFill>
              </a:rPr>
              <a:t>Piyasada ne var?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9537192" y="3639312"/>
            <a:ext cx="208483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667085"/>
                </a:solidFill>
              </a:rPr>
              <a:t>IBM AML Data ve Multi-GNN araştırma altyapısı, AML için graf sinir ağlarını denemeyi mümkün kılar.</a:t>
            </a:r>
            <a:endParaRPr lang="en-US" sz="790" dirty="0"/>
          </a:p>
        </p:txBody>
      </p:sp>
      <p:sp>
        <p:nvSpPr>
          <p:cNvPr id="37" name="Text 35"/>
          <p:cNvSpPr/>
          <p:nvPr/>
        </p:nvSpPr>
        <p:spPr>
          <a:xfrm>
            <a:off x="9509760" y="4370832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B42336"/>
                </a:solidFill>
              </a:rPr>
              <a:t>ARGUS farkı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9537192" y="4608576"/>
            <a:ext cx="20848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7324D"/>
                </a:solidFill>
              </a:rPr>
              <a:t>ARGUS teknik araştırmayı pazarlanabilir fintech karar destek ürününe çevirir: model + açıklama + pilot kanıt paketi.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1143000" y="5715000"/>
            <a:ext cx="9921240" cy="457200"/>
          </a:xfrm>
          <a:prstGeom prst="roundRect">
            <a:avLst>
              <a:gd name="adj" fmla="val 8000"/>
            </a:avLst>
          </a:prstGeom>
          <a:solidFill>
            <a:srgbClr val="071A2D"/>
          </a:solidFill>
          <a:ln w="12700">
            <a:solidFill>
              <a:srgbClr val="071A2D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325880" y="5879592"/>
            <a:ext cx="9555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</a:rPr>
              <a:t>Pozisyonumuz: Kurumsal AML platformlarının alternatifi değil; graf tabanlı finansal suç istihbaratının öğrenilebilir, açıklanabilir ve uygulanabilir Capstone prototipi.</a:t>
            </a:r>
            <a:endParaRPr lang="en-US" sz="1060" dirty="0"/>
          </a:p>
        </p:txBody>
      </p:sp>
      <p:sp>
        <p:nvSpPr>
          <p:cNvPr id="41" name="Text 39"/>
          <p:cNvSpPr/>
          <p:nvPr/>
        </p:nvSpPr>
        <p:spPr>
          <a:xfrm>
            <a:off x="502920" y="6355080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dirty="0">
                <a:solidFill>
                  <a:srgbClr val="667085"/>
                </a:solidFill>
              </a:rPr>
              <a:t>Kaynak: Quantexa Graph Analytics; Feedzai RiskOps/AML; Featurespace Platform; SAS AML; BIS Project Hertha; IBM AML Data &amp; Multi-GNN</a:t>
            </a:r>
            <a:endParaRPr lang="en-US" sz="5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601968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AAB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ARGUS · Ayşe Ulaşlı · Gizem Özcan · Samsung Innovation Campus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521440" y="651967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650">
                <a:solidFill>
                  <a:srgbClr val="A0AAB9"/>
                </a:solidFill>
                <a:latin typeface="Aptos"/>
              </a:rPr>
              <a:t>05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ÇÖZÜM MİMARİSİ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Dört Katmanlı Karar Destek Sistemi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7FAFE"/>
          </a:solidFill>
          <a:ln w="12700">
            <a:solidFill>
              <a:srgbClr val="DDE8F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04672" y="1719072"/>
            <a:ext cx="310896" cy="310896"/>
          </a:xfrm>
          <a:prstGeom prst="ellipse">
            <a:avLst/>
          </a:prstGeom>
          <a:solidFill>
            <a:srgbClr val="153E7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04672" y="18013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32688" y="22128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İşlem Risk Modeli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2606040"/>
            <a:ext cx="19202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</a:rPr>
              <a:t>Lojistik Regresyon → Rastgele Orman → XGBoost/LightGBM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29000" y="150876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7FAFE"/>
          </a:solidFill>
          <a:ln w="12700">
            <a:solidFill>
              <a:srgbClr val="DDE8F4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593592" y="1719072"/>
            <a:ext cx="310896" cy="310896"/>
          </a:xfrm>
          <a:prstGeom prst="ellipse">
            <a:avLst/>
          </a:prstGeom>
          <a:solidFill>
            <a:srgbClr val="087F7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593592" y="18013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721608" y="22128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Finansal Graf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21608" y="2606040"/>
            <a:ext cx="19202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</a:rPr>
              <a:t>Hesap düğüm, transfer kenar; graf özellikleri çıkarılır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150876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4F2FF"/>
          </a:solidFill>
          <a:ln w="12700">
            <a:solidFill>
              <a:srgbClr val="CFC4F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382512" y="1719072"/>
            <a:ext cx="310896" cy="310896"/>
          </a:xfrm>
          <a:prstGeom prst="ellipse">
            <a:avLst/>
          </a:prstGeom>
          <a:solidFill>
            <a:srgbClr val="4936A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18013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10528" y="22128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Graf Yapay Zekâ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10528" y="2606040"/>
            <a:ext cx="19202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</a:rPr>
              <a:t>Graf sinir ağı: ilişki örüntülerini öğrenir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006840" y="150876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7FAFE"/>
          </a:solidFill>
          <a:ln w="12700">
            <a:solidFill>
              <a:srgbClr val="DDE8F4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71432" y="1719072"/>
            <a:ext cx="310896" cy="310896"/>
          </a:xfrm>
          <a:prstGeom prst="ellipse">
            <a:avLst/>
          </a:prstGeom>
          <a:solidFill>
            <a:srgbClr val="9A5A0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171432" y="18013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299448" y="22128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Analist Kararı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99448" y="2606040"/>
            <a:ext cx="19202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</a:rPr>
              <a:t>Açıklama, vaka özeti ve önceliklendirme paneli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82112" y="2468880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C9D8E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971032" y="2468880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C9D8E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759952" y="2468880"/>
            <a:ext cx="219456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C9D8E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51560" y="4206240"/>
            <a:ext cx="10058400" cy="1051560"/>
          </a:xfrm>
          <a:prstGeom prst="roundRect">
            <a:avLst>
              <a:gd name="adj" fmla="val 4348"/>
            </a:avLst>
          </a:prstGeom>
          <a:solidFill>
            <a:srgbClr val="071A2D"/>
          </a:solidFill>
          <a:ln w="12700">
            <a:solidFill>
              <a:srgbClr val="071A2D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417320" y="444398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FBFF"/>
                </a:solidFill>
              </a:rPr>
              <a:t>Farklılaştırma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417320" y="4681728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ARGUS yalnızca “dolandırıcılık tespiti” yapmaz; para hareketinin ağ yapısını, ilişkilerini ve analist açısından karar destek değerini üretir.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601968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AAB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ARGUS · Ayşe Ulaşlı · Gizem Özcan · Samsung Innovation Campus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521440" y="651967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650">
                <a:solidFill>
                  <a:srgbClr val="A0AAB9"/>
                </a:solidFill>
                <a:latin typeface="Aptos"/>
              </a:rPr>
              <a:t>06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FİNANSAL GRAF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Karışık İşlem Listesinden Anlamlı Para Ağına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7818120" cy="4434840"/>
          </a:xfrm>
          <a:prstGeom prst="roundRect">
            <a:avLst>
              <a:gd name="adj" fmla="val 1031"/>
            </a:avLst>
          </a:prstGeom>
          <a:solidFill>
            <a:srgbClr val="F9FCFF"/>
          </a:solidFill>
          <a:ln w="12700">
            <a:solidFill>
              <a:srgbClr val="D9E7F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62763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7F73"/>
                </a:solidFill>
              </a:rPr>
              <a:t>Kaynak hesaplar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423160" y="162763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2336"/>
                </a:solidFill>
              </a:rPr>
              <a:t>Toplama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069080" y="162763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5A00"/>
                </a:solidFill>
              </a:rPr>
              <a:t>Katmanlama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126480" y="162763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936A8"/>
                </a:solidFill>
              </a:rPr>
              <a:t>Çıkış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54480" y="2331720"/>
            <a:ext cx="1280160" cy="822960"/>
          </a:xfrm>
          <a:prstGeom prst="line">
            <a:avLst/>
          </a:prstGeom>
          <a:solidFill>
            <a:srgbClr val="FFFFFF">
              <a:alpha val="0"/>
            </a:srgbClr>
          </a:solidFill>
          <a:ln w="17145">
            <a:solidFill>
              <a:srgbClr val="91A7BD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554480" y="3154680"/>
            <a:ext cx="1280160" cy="0"/>
          </a:xfrm>
          <a:prstGeom prst="line">
            <a:avLst/>
          </a:prstGeom>
          <a:solidFill>
            <a:srgbClr val="FFFFFF">
              <a:alpha val="0"/>
            </a:srgbClr>
          </a:solidFill>
          <a:ln w="17145">
            <a:solidFill>
              <a:srgbClr val="91A7BD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flipV="1">
            <a:off x="3359075" y="2706445"/>
            <a:ext cx="1168102" cy="459440"/>
          </a:xfrm>
          <a:prstGeom prst="line">
            <a:avLst/>
          </a:prstGeom>
          <a:solidFill>
            <a:srgbClr val="FFFFFF">
              <a:alpha val="0"/>
            </a:srgbClr>
          </a:solidFill>
          <a:ln w="17145">
            <a:solidFill>
              <a:srgbClr val="91A7BD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91840" y="3154680"/>
            <a:ext cx="1280160" cy="548640"/>
          </a:xfrm>
          <a:prstGeom prst="line">
            <a:avLst/>
          </a:prstGeom>
          <a:solidFill>
            <a:srgbClr val="FFFFFF">
              <a:alpha val="0"/>
            </a:srgbClr>
          </a:solidFill>
          <a:ln w="17145">
            <a:solidFill>
              <a:srgbClr val="91A7BD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029200" y="2606040"/>
            <a:ext cx="1188720" cy="0"/>
          </a:xfrm>
          <a:prstGeom prst="line">
            <a:avLst/>
          </a:prstGeom>
          <a:solidFill>
            <a:srgbClr val="FFFFFF">
              <a:alpha val="0"/>
            </a:srgbClr>
          </a:solidFill>
          <a:ln w="17145">
            <a:solidFill>
              <a:srgbClr val="91A7BD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029200" y="3703320"/>
            <a:ext cx="1188720" cy="0"/>
          </a:xfrm>
          <a:prstGeom prst="line">
            <a:avLst/>
          </a:prstGeom>
          <a:solidFill>
            <a:srgbClr val="FFFFFF">
              <a:alpha val="0"/>
            </a:srgbClr>
          </a:solidFill>
          <a:ln w="17145">
            <a:solidFill>
              <a:srgbClr val="91A7BD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675120" y="2606040"/>
            <a:ext cx="731520" cy="548640"/>
          </a:xfrm>
          <a:prstGeom prst="line">
            <a:avLst/>
          </a:prstGeom>
          <a:solidFill>
            <a:srgbClr val="FFFFFF">
              <a:alpha val="0"/>
            </a:srgbClr>
          </a:solidFill>
          <a:ln w="17145">
            <a:solidFill>
              <a:srgbClr val="91A7BD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V="1">
            <a:off x="6663915" y="3344732"/>
            <a:ext cx="742725" cy="380999"/>
          </a:xfrm>
          <a:prstGeom prst="line">
            <a:avLst/>
          </a:prstGeom>
          <a:solidFill>
            <a:srgbClr val="FFFFFF">
              <a:alpha val="0"/>
            </a:srgbClr>
          </a:solidFill>
          <a:ln w="17145">
            <a:solidFill>
              <a:srgbClr val="91A7BD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074920" y="3703320"/>
            <a:ext cx="0" cy="0"/>
          </a:xfrm>
          <a:prstGeom prst="line">
            <a:avLst/>
          </a:prstGeom>
          <a:solidFill>
            <a:srgbClr val="FFFFFF">
              <a:alpha val="0"/>
            </a:srgbClr>
          </a:solidFill>
          <a:ln w="15875">
            <a:solidFill>
              <a:srgbClr val="B42336">
                <a:alpha val="95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257800" y="309067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42336"/>
                </a:solidFill>
              </a:rPr>
              <a:t>dairesel iz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106424" y="2112264"/>
            <a:ext cx="438912" cy="438912"/>
          </a:xfrm>
          <a:prstGeom prst="ellipse">
            <a:avLst/>
          </a:prstGeom>
          <a:solidFill>
            <a:srgbClr val="087F73"/>
          </a:solidFill>
          <a:ln w="1524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106424" y="225856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106424" y="2935224"/>
            <a:ext cx="438912" cy="438912"/>
          </a:xfrm>
          <a:prstGeom prst="ellipse">
            <a:avLst/>
          </a:prstGeom>
          <a:solidFill>
            <a:srgbClr val="087F73"/>
          </a:solidFill>
          <a:ln w="1524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106424" y="308152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106424" y="3758184"/>
            <a:ext cx="438912" cy="438912"/>
          </a:xfrm>
          <a:prstGeom prst="ellipse">
            <a:avLst/>
          </a:prstGeom>
          <a:solidFill>
            <a:srgbClr val="087F73"/>
          </a:solidFill>
          <a:ln w="1524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106424" y="390448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79776" y="2871216"/>
            <a:ext cx="566928" cy="566928"/>
          </a:xfrm>
          <a:prstGeom prst="ellipse">
            <a:avLst/>
          </a:prstGeom>
          <a:solidFill>
            <a:srgbClr val="B42336"/>
          </a:solidFill>
          <a:ln w="1524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779776" y="308152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44568" y="2350008"/>
            <a:ext cx="512064" cy="512064"/>
          </a:xfrm>
          <a:prstGeom prst="ellipse">
            <a:avLst/>
          </a:prstGeom>
          <a:solidFill>
            <a:srgbClr val="9A5A00"/>
          </a:solidFill>
          <a:ln w="1524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544568" y="253288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44568" y="3447288"/>
            <a:ext cx="512064" cy="512064"/>
          </a:xfrm>
          <a:prstGeom prst="ellipse">
            <a:avLst/>
          </a:prstGeom>
          <a:solidFill>
            <a:srgbClr val="9A5A00"/>
          </a:solidFill>
          <a:ln w="1524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44568" y="363016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90488" y="2350008"/>
            <a:ext cx="512064" cy="512064"/>
          </a:xfrm>
          <a:prstGeom prst="ellipse">
            <a:avLst/>
          </a:prstGeom>
          <a:solidFill>
            <a:srgbClr val="B42336"/>
          </a:solidFill>
          <a:ln w="1524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190488" y="253288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L3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90488" y="3447288"/>
            <a:ext cx="512064" cy="512064"/>
          </a:xfrm>
          <a:prstGeom prst="ellipse">
            <a:avLst/>
          </a:prstGeom>
          <a:solidFill>
            <a:srgbClr val="B42336"/>
          </a:solidFill>
          <a:ln w="1524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190488" y="363016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306056" y="2825496"/>
            <a:ext cx="658368" cy="658368"/>
          </a:xfrm>
          <a:prstGeom prst="ellipse">
            <a:avLst/>
          </a:prstGeom>
          <a:solidFill>
            <a:srgbClr val="4936A8"/>
          </a:solidFill>
          <a:ln w="1524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306056" y="3081528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Çıkış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868680" y="5010912"/>
            <a:ext cx="2651760" cy="292608"/>
          </a:xfrm>
          <a:prstGeom prst="roundRect">
            <a:avLst>
              <a:gd name="adj" fmla="val 15625"/>
            </a:avLst>
          </a:prstGeom>
          <a:solidFill>
            <a:srgbClr val="FFF0F2"/>
          </a:solidFill>
          <a:ln w="12700">
            <a:solidFill>
              <a:srgbClr val="FFF0F2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978408" y="5084064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2336"/>
                </a:solidFill>
              </a:rPr>
              <a:t>Fan-in: çok kaynaktan tek hesaba toplama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0" y="5010912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FFF8EA"/>
          </a:solidFill>
          <a:ln w="12700">
            <a:solidFill>
              <a:srgbClr val="FFF8EA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767328" y="5084064"/>
            <a:ext cx="2295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A5A00"/>
                </a:solidFill>
              </a:rPr>
              <a:t>Layering: para birkaç katmanda dolaşır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309360" y="501091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F4F1FF"/>
          </a:solidFill>
          <a:ln w="12700">
            <a:solidFill>
              <a:srgbClr val="F4F1F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419088" y="5084064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936A8"/>
                </a:solidFill>
              </a:rPr>
              <a:t>Fan-out: çıkış noktasına dağıtım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732520" y="141732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42336"/>
                </a:solidFill>
              </a:rPr>
              <a:t>Yüksek riskli ağ tespit edildi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8823960" y="1938528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67085"/>
                </a:solidFill>
              </a:rPr>
              <a:t>Ağ kodu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10195560" y="1938528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7324D"/>
                </a:solidFill>
              </a:rPr>
              <a:t>FR-284</a:t>
            </a:r>
            <a:endParaRPr lang="en-US" sz="920" dirty="0"/>
          </a:p>
        </p:txBody>
      </p:sp>
      <p:sp>
        <p:nvSpPr>
          <p:cNvPr id="49" name="Text 47"/>
          <p:cNvSpPr/>
          <p:nvPr/>
        </p:nvSpPr>
        <p:spPr>
          <a:xfrm>
            <a:off x="8823960" y="2423160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67085"/>
                </a:solidFill>
              </a:rPr>
              <a:t>Hesap sayısı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10195560" y="2423160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7324D"/>
                </a:solidFill>
              </a:rPr>
              <a:t>12</a:t>
            </a:r>
            <a:endParaRPr lang="en-US" sz="920" dirty="0"/>
          </a:p>
        </p:txBody>
      </p:sp>
      <p:sp>
        <p:nvSpPr>
          <p:cNvPr id="51" name="Text 49"/>
          <p:cNvSpPr/>
          <p:nvPr/>
        </p:nvSpPr>
        <p:spPr>
          <a:xfrm>
            <a:off x="8823960" y="2907792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67085"/>
                </a:solidFill>
              </a:rPr>
              <a:t>Transfer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10195560" y="2907792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7324D"/>
                </a:solidFill>
              </a:rPr>
              <a:t>47</a:t>
            </a:r>
            <a:endParaRPr lang="en-US" sz="920" dirty="0"/>
          </a:p>
        </p:txBody>
      </p:sp>
      <p:sp>
        <p:nvSpPr>
          <p:cNvPr id="53" name="Text 51"/>
          <p:cNvSpPr/>
          <p:nvPr/>
        </p:nvSpPr>
        <p:spPr>
          <a:xfrm>
            <a:off x="8823960" y="3392424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67085"/>
                </a:solidFill>
              </a:rPr>
              <a:t>Toplam akış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10195560" y="3392424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7324D"/>
                </a:solidFill>
              </a:rPr>
              <a:t>₺1,28M</a:t>
            </a:r>
            <a:endParaRPr lang="en-US" sz="920" dirty="0"/>
          </a:p>
        </p:txBody>
      </p:sp>
      <p:sp>
        <p:nvSpPr>
          <p:cNvPr id="55" name="Text 53"/>
          <p:cNvSpPr/>
          <p:nvPr/>
        </p:nvSpPr>
        <p:spPr>
          <a:xfrm>
            <a:off x="8823960" y="3877056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67085"/>
                </a:solidFill>
              </a:rPr>
              <a:t>Risk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10195560" y="3877056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7324D"/>
                </a:solidFill>
              </a:rPr>
              <a:t>94 / 100</a:t>
            </a:r>
            <a:endParaRPr lang="en-US" sz="920" dirty="0"/>
          </a:p>
        </p:txBody>
      </p:sp>
      <p:sp>
        <p:nvSpPr>
          <p:cNvPr id="57" name="Shape 55"/>
          <p:cNvSpPr/>
          <p:nvPr/>
        </p:nvSpPr>
        <p:spPr>
          <a:xfrm>
            <a:off x="8732520" y="4590288"/>
            <a:ext cx="2743200" cy="822960"/>
          </a:xfrm>
          <a:prstGeom prst="roundRect">
            <a:avLst>
              <a:gd name="adj" fmla="val 5556"/>
            </a:avLst>
          </a:prstGeom>
          <a:solidFill>
            <a:srgbClr val="FFF6F7"/>
          </a:solidFill>
          <a:ln w="12700">
            <a:solidFill>
              <a:srgbClr val="FFD5DA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8915400" y="48280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B42336"/>
                </a:solidFill>
              </a:rPr>
              <a:t>Desen: hızlı toplama → katmanlama → çıkış</a:t>
            </a:r>
            <a:endParaRPr lang="en-US" sz="1020" dirty="0"/>
          </a:p>
        </p:txBody>
      </p:sp>
      <p:sp>
        <p:nvSpPr>
          <p:cNvPr id="59" name="Text 57"/>
          <p:cNvSpPr/>
          <p:nvPr/>
        </p:nvSpPr>
        <p:spPr>
          <a:xfrm>
            <a:off x="868680" y="5897880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24D"/>
                </a:solidFill>
              </a:rPr>
              <a:t>Analistin gördüğü şey artık tekil skor değil, kanıtlanabilir para akışı desenidir.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502920" y="6355080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dirty="0">
                <a:solidFill>
                  <a:srgbClr val="667085"/>
                </a:solidFill>
              </a:rPr>
              <a:t>Kaynak: Graf kavramsaldır; gerçek demo IBM AML/PaySim verisi üzerinde üretilecektir.</a:t>
            </a:r>
            <a:endParaRPr lang="en-US" sz="560" dirty="0"/>
          </a:p>
        </p:txBody>
      </p:sp>
      <p:sp>
        <p:nvSpPr>
          <p:cNvPr id="61" name="Shape 9">
            <a:extLst>
              <a:ext uri="{FF2B5EF4-FFF2-40B4-BE49-F238E27FC236}">
                <a16:creationId xmlns:a16="http://schemas.microsoft.com/office/drawing/2014/main" id="{FA1E0E6C-69F4-5AEC-7F91-8B19115CD826}"/>
              </a:ext>
            </a:extLst>
          </p:cNvPr>
          <p:cNvSpPr/>
          <p:nvPr/>
        </p:nvSpPr>
        <p:spPr>
          <a:xfrm flipV="1">
            <a:off x="1543273" y="3367591"/>
            <a:ext cx="1268954" cy="622598"/>
          </a:xfrm>
          <a:prstGeom prst="line">
            <a:avLst/>
          </a:prstGeom>
          <a:solidFill>
            <a:srgbClr val="FFFFFF">
              <a:alpha val="0"/>
            </a:srgbClr>
          </a:solidFill>
          <a:ln w="17145">
            <a:solidFill>
              <a:srgbClr val="91A7BD">
                <a:alpha val="92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601968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AAB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ARGUS · Ayşe Ulaşlı · Gizem Özcan · Samsung Innovation Campus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521440" y="651967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650">
                <a:solidFill>
                  <a:srgbClr val="A0AAB9"/>
                </a:solidFill>
                <a:latin typeface="Aptos"/>
              </a:rPr>
              <a:t>07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TESPİT YAKLAŞIMI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Bilinen Örüntü + Bilinmeyen Sapma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5074920" cy="1920240"/>
          </a:xfrm>
          <a:prstGeom prst="roundRect">
            <a:avLst>
              <a:gd name="adj" fmla="val 2381"/>
            </a:avLst>
          </a:prstGeom>
          <a:solidFill>
            <a:srgbClr val="F7FAFE"/>
          </a:solidFill>
          <a:ln w="12700">
            <a:solidFill>
              <a:srgbClr val="DDE8F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355080" y="1508760"/>
            <a:ext cx="5074920" cy="1920240"/>
          </a:xfrm>
          <a:prstGeom prst="roundRect">
            <a:avLst>
              <a:gd name="adj" fmla="val 2381"/>
            </a:avLst>
          </a:prstGeom>
          <a:solidFill>
            <a:srgbClr val="F7FBFA"/>
          </a:solidFill>
          <a:ln w="12700">
            <a:solidFill>
              <a:srgbClr val="CBECE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51560" y="17830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Bilinen finansal suç örüntüleri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176272"/>
            <a:ext cx="4297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67085"/>
                </a:solidFill>
              </a:rPr>
              <a:t>Geçmiş etiketlerden öğrenen denetimli graf modeli; hesap ağının dolandırıcılık davranışına ne kadar benzediğini öğrenir.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1051560" y="2834640"/>
            <a:ext cx="1325880" cy="292608"/>
          </a:xfrm>
          <a:prstGeom prst="roundRect">
            <a:avLst>
              <a:gd name="adj" fmla="val 15625"/>
            </a:avLst>
          </a:prstGeom>
          <a:solidFill>
            <a:srgbClr val="F4F1FF"/>
          </a:solidFill>
          <a:ln w="12700">
            <a:solidFill>
              <a:srgbClr val="F4F1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61288" y="2907792"/>
            <a:ext cx="11064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936A8"/>
                </a:solidFill>
              </a:rPr>
              <a:t>Graf sinir ağı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14600" y="2834640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624328" y="2907792"/>
            <a:ext cx="1426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3E73"/>
                </a:solidFill>
              </a:rPr>
              <a:t>Gözetimli öğrenme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675120" y="17830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Bilinmeyen / yeni davranışlar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2176272"/>
            <a:ext cx="4297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67085"/>
                </a:solidFill>
              </a:rPr>
              <a:t>Normal para akışı davranışını öğrenen anomali modeli; normalden sapan alt ağları erken uyarı olarak işaretler.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675120" y="2834640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E8FAF8"/>
          </a:solidFill>
          <a:ln w="12700">
            <a:solidFill>
              <a:srgbClr val="E8FAF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784848" y="2907792"/>
            <a:ext cx="17007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7F73"/>
                </a:solidFill>
              </a:rPr>
              <a:t>Graf tabanlı otomatik kodlayıcı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732520" y="283464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E8FAF8"/>
          </a:solidFill>
          <a:ln w="12700">
            <a:solidFill>
              <a:srgbClr val="E8FAF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842248" y="2907792"/>
            <a:ext cx="1243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7F73"/>
                </a:solidFill>
              </a:rPr>
              <a:t>Anomali tespiti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" y="43434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3E73"/>
                </a:solidFill>
              </a:rPr>
              <a:t>Araştırma sorusu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4663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Denetimli graf öğrenmesi ile denetimsiz anomali tespitini birleştirmek, daha önce görülmemiş finansal suç örüntülerini yakalamayı iyileştirir mi?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6355080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dirty="0">
                <a:solidFill>
                  <a:srgbClr val="667085"/>
                </a:solidFill>
              </a:rPr>
              <a:t>Kaynak: BIS Project Hertha yeni örüntülerin tespitinde ağ geneli analitiğin değerini vurgular.</a:t>
            </a:r>
            <a:endParaRPr lang="en-US" sz="5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601968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AAB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ARGUS · Ayşe Ulaşlı · Gizem Özcan · Samsung Innovation Campus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521440" y="651967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650">
                <a:solidFill>
                  <a:srgbClr val="A0AAB9"/>
                </a:solidFill>
                <a:latin typeface="Aptos"/>
              </a:rPr>
              <a:t>08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AÇIKLANABİLİRLİK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Neden Bu Ağ İşaretlendi?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15819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Hızlı el değiştirme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703320" y="1554480"/>
            <a:ext cx="4389120" cy="201168"/>
          </a:xfrm>
          <a:prstGeom prst="roundRect">
            <a:avLst>
              <a:gd name="adj" fmla="val 13636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703320" y="1554480"/>
            <a:ext cx="3840480" cy="201168"/>
          </a:xfrm>
          <a:prstGeom prst="roundRect">
            <a:avLst>
              <a:gd name="adj" fmla="val 13636"/>
            </a:avLst>
          </a:prstGeom>
          <a:solidFill>
            <a:srgbClr val="B42336"/>
          </a:solidFill>
          <a:ln w="12700">
            <a:solidFill>
              <a:srgbClr val="B4233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321040" y="156362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42336"/>
                </a:solidFill>
              </a:rPr>
              <a:t>+0,29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2677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Dairesel para akışı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703320" y="2240280"/>
            <a:ext cx="4389120" cy="201168"/>
          </a:xfrm>
          <a:prstGeom prst="roundRect">
            <a:avLst>
              <a:gd name="adj" fmla="val 13636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703320" y="2240280"/>
            <a:ext cx="3108960" cy="201168"/>
          </a:xfrm>
          <a:prstGeom prst="roundRect">
            <a:avLst>
              <a:gd name="adj" fmla="val 13636"/>
            </a:avLst>
          </a:prstGeom>
          <a:solidFill>
            <a:srgbClr val="4936A8"/>
          </a:solidFill>
          <a:ln w="12700">
            <a:solidFill>
              <a:srgbClr val="4936A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224942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936A8"/>
                </a:solidFill>
              </a:rPr>
              <a:t>+0,23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9535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Çok kaynaktan toplama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703320" y="2926080"/>
            <a:ext cx="4389120" cy="201168"/>
          </a:xfrm>
          <a:prstGeom prst="roundRect">
            <a:avLst>
              <a:gd name="adj" fmla="val 13636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703320" y="2926080"/>
            <a:ext cx="2468880" cy="201168"/>
          </a:xfrm>
          <a:prstGeom prst="roundRect">
            <a:avLst>
              <a:gd name="adj" fmla="val 13636"/>
            </a:avLst>
          </a:prstGeom>
          <a:solidFill>
            <a:srgbClr val="9A5A00"/>
          </a:solidFill>
          <a:ln w="12700">
            <a:solidFill>
              <a:srgbClr val="9A5A0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321040" y="293522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A5A00"/>
                </a:solidFill>
              </a:rPr>
              <a:t>+0,18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36393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Kısa işlem aralıkları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703320" y="3611880"/>
            <a:ext cx="4389120" cy="201168"/>
          </a:xfrm>
          <a:prstGeom prst="roundRect">
            <a:avLst>
              <a:gd name="adj" fmla="val 13636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703320" y="3611880"/>
            <a:ext cx="2057400" cy="201168"/>
          </a:xfrm>
          <a:prstGeom prst="roundRect">
            <a:avLst>
              <a:gd name="adj" fmla="val 13636"/>
            </a:avLst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321040" y="362102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87F73"/>
                </a:solidFill>
              </a:rPr>
              <a:t>+0,15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43251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Yüksek riskli komşuluk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703320" y="4297680"/>
            <a:ext cx="4389120" cy="201168"/>
          </a:xfrm>
          <a:prstGeom prst="roundRect">
            <a:avLst>
              <a:gd name="adj" fmla="val 13636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3703320" y="4297680"/>
            <a:ext cx="1234440" cy="201168"/>
          </a:xfrm>
          <a:prstGeom prst="roundRect">
            <a:avLst>
              <a:gd name="adj" fmla="val 13636"/>
            </a:avLst>
          </a:prstGeom>
          <a:solidFill>
            <a:srgbClr val="153E73"/>
          </a:solidFill>
          <a:ln w="12700">
            <a:solidFill>
              <a:srgbClr val="153E7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321040" y="430682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3E73"/>
                </a:solidFill>
              </a:rPr>
              <a:t>+0,09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235440" y="1508760"/>
            <a:ext cx="2331720" cy="2011680"/>
          </a:xfrm>
          <a:prstGeom prst="roundRect">
            <a:avLst>
              <a:gd name="adj" fmla="val 2273"/>
            </a:avLst>
          </a:prstGeom>
          <a:solidFill>
            <a:srgbClr val="F7FAFE"/>
          </a:solidFill>
          <a:ln w="12700">
            <a:solidFill>
              <a:srgbClr val="DDE8F4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464040" y="17830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Açıklama katmanı neyi gösterir?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464040" y="2382012"/>
            <a:ext cx="64008" cy="64008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582912" y="233172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7324D"/>
                </a:solidFill>
              </a:rPr>
              <a:t>Hangi graf özelliği skoru yükseltti?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9464040" y="2747772"/>
            <a:ext cx="64008" cy="64008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582912" y="269748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7324D"/>
                </a:solidFill>
              </a:rPr>
              <a:t>Kararda belirleyici işlem zinciri nerede?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9464040" y="3113532"/>
            <a:ext cx="64008" cy="64008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582912" y="30632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7324D"/>
                </a:solidFill>
              </a:rPr>
              <a:t>Analist neyi önce incelemeli?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914400" y="5166360"/>
            <a:ext cx="10332720" cy="566928"/>
          </a:xfrm>
          <a:prstGeom prst="roundRect">
            <a:avLst>
              <a:gd name="adj" fmla="val 8065"/>
            </a:avLst>
          </a:prstGeom>
          <a:solidFill>
            <a:srgbClr val="071A2D"/>
          </a:solidFill>
          <a:ln w="12700">
            <a:solidFill>
              <a:srgbClr val="071A2D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143000" y="537667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Tasarım ilkesi: Model “suçlu” demez; incelenmesi gereken kanıt izlerini görünür kılar.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601968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AAB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ARGUS · Ayşe Ulaşlı · Gizem Özcan · Samsung Innovation Campus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521440" y="651967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650">
                <a:solidFill>
                  <a:srgbClr val="A0AAB9"/>
                </a:solidFill>
                <a:latin typeface="Aptos"/>
              </a:rPr>
              <a:t>09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KARAR DESTEK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 Analist, 10.000 Uyarı: Hangisi Önce?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24D"/>
                </a:solidFill>
              </a:rPr>
              <a:t>ARGUS yalnızca risk skoru üretmez; sınırlı analist kapasitesini en yüksek beklenen faydaya yönlendirir.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097280" y="1874520"/>
            <a:ext cx="9966960" cy="530352"/>
          </a:xfrm>
          <a:prstGeom prst="roundRect">
            <a:avLst>
              <a:gd name="adj" fmla="val 5172"/>
            </a:avLst>
          </a:prstGeom>
          <a:solidFill>
            <a:srgbClr val="071A2D"/>
          </a:solidFill>
          <a:ln w="12700">
            <a:solidFill>
              <a:srgbClr val="071A2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25880" y="2075688"/>
            <a:ext cx="9509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Risk olasılığı × finansal maruziyet × ağ önemi × önlenebilir kayıp ÷ inceleme eforu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2578608"/>
            <a:ext cx="0" cy="329184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C9D8E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" y="3246120"/>
            <a:ext cx="4663440" cy="1417320"/>
          </a:xfrm>
          <a:prstGeom prst="roundRect">
            <a:avLst>
              <a:gd name="adj" fmla="val 3226"/>
            </a:avLst>
          </a:prstGeom>
          <a:solidFill>
            <a:srgbClr val="F7FAFE"/>
          </a:solidFill>
          <a:ln w="12700">
            <a:solidFill>
              <a:srgbClr val="DDE8F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88720" y="349300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Optimizasyon modeli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188720" y="3909060"/>
            <a:ext cx="64008" cy="64008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07592" y="385876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7324D"/>
                </a:solidFill>
              </a:rPr>
              <a:t>Amaç: beklenen önlenebilir kaybı maksimize etmek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1188720" y="4210812"/>
            <a:ext cx="64008" cy="64008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07592" y="4160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7324D"/>
                </a:solidFill>
              </a:rPr>
              <a:t>Kısıtlar: analist-saat, vaka süresi, risk limiti, günlük kapasite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629400" y="3246120"/>
            <a:ext cx="4526280" cy="1417320"/>
          </a:xfrm>
          <a:prstGeom prst="roundRect">
            <a:avLst>
              <a:gd name="adj" fmla="val 3226"/>
            </a:avLst>
          </a:prstGeom>
          <a:solidFill>
            <a:srgbClr val="FFF8EA"/>
          </a:solidFill>
          <a:ln w="12700">
            <a:solidFill>
              <a:srgbClr val="FCE4B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903720" y="34930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Örnek çıktı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903720" y="3858768"/>
            <a:ext cx="3886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24D"/>
                </a:solidFill>
              </a:rPr>
              <a:t>“Bugünkü 320 analist-saat kapasitesini bu 146 vakaya ayır; ilk 20 vaka toplam beklenen kaybın %40’ını kapsıyor.”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601968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AAB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ARGUS · Ayşe Ulaşlı · Gizem Özcan · Samsung Innovation Campus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521440" y="651967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650">
                <a:solidFill>
                  <a:srgbClr val="A0AAB9"/>
                </a:solidFill>
                <a:latin typeface="Aptos"/>
              </a:rPr>
              <a:t>10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YAPAY ZEKÂ KULLANIMI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ARGUS’ta Yapay Zekâ Nerede Kullanılıyor?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2423160" cy="2743200"/>
          </a:xfrm>
          <a:prstGeom prst="roundRect">
            <a:avLst>
              <a:gd name="adj" fmla="val 1887"/>
            </a:avLst>
          </a:prstGeom>
          <a:solidFill>
            <a:srgbClr val="F7FAFE"/>
          </a:solidFill>
          <a:ln w="12700">
            <a:solidFill>
              <a:srgbClr val="DDE8F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1912" y="1828800"/>
            <a:ext cx="777240" cy="777240"/>
          </a:xfrm>
          <a:prstGeom prst="ellipse">
            <a:avLst/>
          </a:prstGeom>
          <a:solidFill>
            <a:srgbClr val="153E73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581912" y="2066544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8803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</a:rPr>
              <a:t>Makine öğrenmesi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310128"/>
            <a:ext cx="19659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XGBoost / LightGBM ile tekil işlem riskine referans skor üretir.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11880" y="1554480"/>
            <a:ext cx="2423160" cy="2743200"/>
          </a:xfrm>
          <a:prstGeom prst="roundRect">
            <a:avLst>
              <a:gd name="adj" fmla="val 1887"/>
            </a:avLst>
          </a:prstGeom>
          <a:solidFill>
            <a:srgbClr val="F4F1FF"/>
          </a:solidFill>
          <a:ln w="12700">
            <a:solidFill>
              <a:srgbClr val="D4CAF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416552" y="1828800"/>
            <a:ext cx="777240" cy="777240"/>
          </a:xfrm>
          <a:prstGeom prst="ellipse">
            <a:avLst/>
          </a:prstGeom>
          <a:solidFill>
            <a:srgbClr val="4936A8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416552" y="2066544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28803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</a:rPr>
              <a:t>Graf yapay zekâ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0" y="3310128"/>
            <a:ext cx="19659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Graf sinir ağı, hesaplar arası ilişki ve ağ örüntülerini öğrenir.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46520" y="1554480"/>
            <a:ext cx="2423160" cy="2743200"/>
          </a:xfrm>
          <a:prstGeom prst="roundRect">
            <a:avLst>
              <a:gd name="adj" fmla="val 1887"/>
            </a:avLst>
          </a:prstGeom>
          <a:solidFill>
            <a:srgbClr val="F0FBFA"/>
          </a:solidFill>
          <a:ln w="12700">
            <a:solidFill>
              <a:srgbClr val="CBECE8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251192" y="1828800"/>
            <a:ext cx="777240" cy="777240"/>
          </a:xfrm>
          <a:prstGeom prst="ellipse">
            <a:avLst/>
          </a:prstGeom>
          <a:solidFill>
            <a:srgbClr val="087F73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251192" y="2066544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28803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</a:rPr>
              <a:t>Anomali tespiti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3310128"/>
            <a:ext cx="19659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Etiketsiz, olağandışı alt ağları erken uyarı olarak yakalar.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281160" y="1554480"/>
            <a:ext cx="2423160" cy="2743200"/>
          </a:xfrm>
          <a:prstGeom prst="roundRect">
            <a:avLst>
              <a:gd name="adj" fmla="val 1887"/>
            </a:avLst>
          </a:prstGeom>
          <a:solidFill>
            <a:srgbClr val="FFF4F5"/>
          </a:solidFill>
          <a:ln w="12700">
            <a:solidFill>
              <a:srgbClr val="FFD5DA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085832" y="1828800"/>
            <a:ext cx="777240" cy="777240"/>
          </a:xfrm>
          <a:prstGeom prst="ellipse">
            <a:avLst/>
          </a:prstGeom>
          <a:solidFill>
            <a:srgbClr val="B42336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085832" y="2066544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09760" y="28803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</a:rPr>
              <a:t>Üretken yapay zekâ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509760" y="3310128"/>
            <a:ext cx="19659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Model kanıtını analistin okuyacağı vaka özetine dönüştürür.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143000" y="5166360"/>
            <a:ext cx="9875520" cy="502920"/>
          </a:xfrm>
          <a:prstGeom prst="roundRect">
            <a:avLst>
              <a:gd name="adj" fmla="val 9091"/>
            </a:avLst>
          </a:prstGeom>
          <a:solidFill>
            <a:srgbClr val="071A2D"/>
          </a:solidFill>
          <a:ln w="12700">
            <a:solidFill>
              <a:srgbClr val="071A2D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371600" y="5358384"/>
            <a:ext cx="9418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Kritik ayrım: Üretken yapay zekâ karar vermez; açıklanabilirlik ve analist iletişimi için kullanılır.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601968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AAB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ARGUS · Ayşe Ulaşlı · Gizem Özcan · Samsung Innovation Campus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521440" y="651967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650">
                <a:solidFill>
                  <a:srgbClr val="A0AAB9"/>
                </a:solidFill>
                <a:latin typeface="Aptos"/>
              </a:rPr>
              <a:t>11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YAPAY ZEKÂ İLE ÜRETİM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Bulgudan Anlaşılır Vaka Notuna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4846320" cy="3474720"/>
          </a:xfrm>
          <a:prstGeom prst="roundRect">
            <a:avLst>
              <a:gd name="adj" fmla="val 1316"/>
            </a:avLst>
          </a:prstGeom>
          <a:solidFill>
            <a:srgbClr val="F7FAFE"/>
          </a:solidFill>
          <a:ln w="12700">
            <a:solidFill>
              <a:srgbClr val="DDE8F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1691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Model bulguları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10312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Risk skoru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0" y="2103120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7324D"/>
                </a:solidFill>
              </a:rPr>
              <a:t>0,94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4505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Gelen kaynak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0" y="245059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7324D"/>
                </a:solidFill>
              </a:rPr>
              <a:t>17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79806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Çıkış hedefi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0" y="279806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7324D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3145536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Ortalama tutma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0" y="314553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7324D"/>
                </a:solidFill>
              </a:rPr>
              <a:t>4,3 dk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349300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Dairesel yol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0" y="349300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7324D"/>
                </a:solidFill>
              </a:rPr>
              <a:t>Var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384048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Şüpheli komşu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0" y="3840480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7324D"/>
                </a:solidFill>
              </a:rPr>
              <a:t>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15000" y="3154680"/>
            <a:ext cx="6858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C9D8E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675120" y="1417320"/>
            <a:ext cx="4800600" cy="3474720"/>
          </a:xfrm>
          <a:prstGeom prst="roundRect">
            <a:avLst>
              <a:gd name="adj" fmla="val 1316"/>
            </a:avLst>
          </a:prstGeom>
          <a:solidFill>
            <a:srgbClr val="F0FBFA"/>
          </a:solidFill>
          <a:ln w="12700">
            <a:solidFill>
              <a:srgbClr val="CBECE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949440" y="16916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Yapay zekâ destekli vaka özeti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9440" y="2240280"/>
            <a:ext cx="416052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</a:rPr>
              <a:t>“Hesap, 17 farklı karşı taraftan fon almış ve gelen tutarın büyük kısmını kısa süre içinde 3 çıkış noktasına aktarmıştır. Ağ içinde dairesel para akışı ve 5 yüksek riskli komşu hesap görüldüğü için vaka öncelikli inceleme listesine alınmıştır.”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49440" y="3822192"/>
            <a:ext cx="3931920" cy="0"/>
          </a:xfrm>
          <a:prstGeom prst="line">
            <a:avLst/>
          </a:prstGeom>
          <a:noFill/>
          <a:ln w="25400">
            <a:solidFill>
              <a:srgbClr val="087F7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949440" y="406908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7F73"/>
                </a:solidFill>
              </a:rPr>
              <a:t>Savunulabilir tasarım: karar insanda, açıklama sistemde.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601968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AAB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ARGUS · Ayşe Ulaşlı · Gizem Özcan · Samsung Innovation Campus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521440" y="651967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650">
                <a:solidFill>
                  <a:srgbClr val="A0AAB9"/>
                </a:solidFill>
                <a:latin typeface="Aptos"/>
              </a:rPr>
              <a:t>12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PAZARLAMA STRATEJİSİ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600" b="1">
                <a:solidFill>
                  <a:srgbClr val="103253"/>
                </a:solidFill>
                <a:latin typeface="Aptos"/>
              </a:rPr>
              <a:t>Hedef Segment ve Pazara Giriş Önceliği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61872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03253"/>
                </a:solidFill>
                <a:latin typeface="Aptos"/>
              </a:rPr>
              <a:t>Veri seti ve ürün problemiyle uyumlu hedefleme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4846320" cy="2148840"/>
          </a:xfrm>
          <a:prstGeom prst="roundRect">
            <a:avLst/>
          </a:prstGeom>
          <a:solidFill>
            <a:srgbClr val="ECFAF8"/>
          </a:solidFill>
          <a:ln w="13970">
            <a:solidFill>
              <a:srgbClr val="86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08078"/>
                </a:solidFill>
                <a:latin typeface="Aptos"/>
              </a:rPr>
              <a:t>BİRİNCİL HEDEF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29968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80" b="1">
                <a:solidFill>
                  <a:srgbClr val="008078"/>
                </a:solidFill>
                <a:latin typeface="Aptos"/>
              </a:rPr>
              <a:t>Dijital bankalar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42519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0" b="1">
                <a:solidFill>
                  <a:srgbClr val="5F6E7D"/>
                </a:solidFill>
                <a:latin typeface="Aptos"/>
              </a:rPr>
              <a:t>• Bankacılık tipi işlem verisiyle yüksek uyum</a:t>
            </a:r>
          </a:p>
          <a:p>
            <a:r>
              <a:rPr sz="1080" b="1">
                <a:solidFill>
                  <a:srgbClr val="5F6E7D"/>
                </a:solidFill>
                <a:latin typeface="Aptos"/>
              </a:rPr>
              <a:t>• Dijital müşteri yolculuğu ve yüksek işlem yoğunluğu</a:t>
            </a:r>
          </a:p>
          <a:p>
            <a:r>
              <a:rPr sz="1080" b="1">
                <a:solidFill>
                  <a:srgbClr val="5F6E7D"/>
                </a:solidFill>
                <a:latin typeface="Aptos"/>
              </a:rPr>
              <a:t>• Hızlı teknoloji kabulü ve pilot uygulanabilirliği</a:t>
            </a:r>
          </a:p>
          <a:p>
            <a:r>
              <a:rPr sz="1080" b="1">
                <a:solidFill>
                  <a:srgbClr val="5F6E7D"/>
                </a:solidFill>
                <a:latin typeface="Aptos"/>
              </a:rPr>
              <a:t>• Yanlış pozitifler müşteri deneyimini doğrudan etkiler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600200"/>
            <a:ext cx="2743200" cy="2148840"/>
          </a:xfrm>
          <a:prstGeom prst="roundRect">
            <a:avLst/>
          </a:prstGeom>
          <a:solidFill>
            <a:srgbClr val="F5F9FD"/>
          </a:solidFill>
          <a:ln w="13970">
            <a:solidFill>
              <a:srgbClr val="C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53328" y="181051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103253"/>
                </a:solidFill>
                <a:latin typeface="Aptos"/>
              </a:rPr>
              <a:t>İKİNCİL HEDEF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3328" y="2029968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40" b="1">
                <a:solidFill>
                  <a:srgbClr val="103253"/>
                </a:solidFill>
                <a:latin typeface="Aptos"/>
              </a:rPr>
              <a:t>Küçük ve orta ölçekli bankalar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8" y="2633472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5F6E7D"/>
                </a:solidFill>
                <a:latin typeface="Aptos"/>
              </a:rPr>
              <a:t>• Fraud/AML ekipleri görece daha sınırlı olabilir</a:t>
            </a:r>
          </a:p>
          <a:p>
            <a:r>
              <a:rPr sz="1050" b="1">
                <a:solidFill>
                  <a:srgbClr val="5F6E7D"/>
                </a:solidFill>
                <a:latin typeface="Aptos"/>
              </a:rPr>
              <a:t>• Açıklanabilir ve modüler karar destek ihtiyacı</a:t>
            </a:r>
          </a:p>
          <a:p>
            <a:r>
              <a:rPr sz="1050" b="1">
                <a:solidFill>
                  <a:srgbClr val="5F6E7D"/>
                </a:solidFill>
                <a:latin typeface="Aptos"/>
              </a:rPr>
              <a:t>• Entegrasyon süreci daha yönetilebilir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600200"/>
            <a:ext cx="2651760" cy="2148840"/>
          </a:xfrm>
          <a:prstGeom prst="roundRect">
            <a:avLst/>
          </a:prstGeom>
          <a:solidFill>
            <a:srgbClr val="EEF2F6"/>
          </a:solidFill>
          <a:ln w="13970">
            <a:solidFill>
              <a:srgbClr val="C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8" y="181051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5F6E7D"/>
                </a:solidFill>
                <a:latin typeface="Aptos"/>
              </a:rPr>
              <a:t>GENİŞLEME ALANI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8" y="2029968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40" b="1">
                <a:solidFill>
                  <a:srgbClr val="103253"/>
                </a:solidFill>
                <a:latin typeface="Aptos"/>
              </a:rPr>
              <a:t>Büyük bankalar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0848" y="2633472"/>
            <a:ext cx="205740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10" b="1">
                <a:solidFill>
                  <a:srgbClr val="5F6E7D"/>
                </a:solidFill>
                <a:latin typeface="Aptos"/>
              </a:rPr>
              <a:t>• Olgun mevcut AML altyapısı</a:t>
            </a:r>
          </a:p>
          <a:p>
            <a:r>
              <a:rPr sz="1010" b="1">
                <a:solidFill>
                  <a:srgbClr val="5F6E7D"/>
                </a:solidFill>
                <a:latin typeface="Aptos"/>
              </a:rPr>
              <a:t>• Daha uzun satın alma ve onay süreci</a:t>
            </a:r>
          </a:p>
          <a:p>
            <a:r>
              <a:rPr sz="1010" b="1">
                <a:solidFill>
                  <a:srgbClr val="5F6E7D"/>
                </a:solidFill>
                <a:latin typeface="Aptos"/>
              </a:rPr>
              <a:t>• Daha kapsamlı kurum içi validasyon gerekir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977639"/>
            <a:ext cx="4800600" cy="1463040"/>
          </a:xfrm>
          <a:prstGeom prst="roundRect">
            <a:avLst/>
          </a:prstGeom>
          <a:solidFill>
            <a:srgbClr val="FFF8EB"/>
          </a:solidFill>
          <a:ln w="13970">
            <a:solidFill>
              <a:srgbClr val="FF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69663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AE6812"/>
                </a:solidFill>
                <a:latin typeface="Aptos"/>
              </a:rPr>
              <a:t>NEDEN BU SEGMENT?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80560"/>
            <a:ext cx="4251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03253"/>
                </a:solidFill>
                <a:latin typeface="Aptos"/>
              </a:rPr>
              <a:t>ARGUS sweet spot: bankacılık tipi işlem verisi + yüksek dijital işlem yoğunluğu + sınırlı Fraud/AML kapasitesi + müşteri deneyimi hassasiyeti.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3977639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03253"/>
                </a:solidFill>
                <a:latin typeface="Aptos"/>
              </a:rPr>
              <a:t>Satın Alma Merkezi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4315968"/>
            <a:ext cx="1737360" cy="1143000"/>
          </a:xfrm>
          <a:prstGeom prst="roundRect">
            <a:avLst/>
          </a:prstGeom>
          <a:solidFill>
            <a:srgbClr val="F5F9FD"/>
          </a:solidFill>
          <a:ln w="13970">
            <a:solidFill>
              <a:srgbClr val="C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452628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08078"/>
                </a:solidFill>
                <a:latin typeface="Aptos"/>
              </a:rPr>
              <a:t>Kullanıcı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86460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80" b="0">
                <a:solidFill>
                  <a:srgbClr val="5F6E7D"/>
                </a:solidFill>
                <a:latin typeface="Aptos"/>
              </a:rPr>
              <a:t>Dolandırıcılık / AML</a:t>
            </a:r>
          </a:p>
          <a:p>
            <a:pPr algn="ctr"/>
            <a:r>
              <a:rPr sz="880" b="0">
                <a:solidFill>
                  <a:srgbClr val="5F6E7D"/>
                </a:solidFill>
                <a:latin typeface="Aptos"/>
              </a:rPr>
              <a:t>operasyon ekibi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59" y="4315968"/>
            <a:ext cx="1737360" cy="1143000"/>
          </a:xfrm>
          <a:prstGeom prst="roundRect">
            <a:avLst/>
          </a:prstGeom>
          <a:solidFill>
            <a:srgbClr val="F5F9FD"/>
          </a:solidFill>
          <a:ln w="13970">
            <a:solidFill>
              <a:srgbClr val="C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19" y="452628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C43863"/>
                </a:solidFill>
                <a:latin typeface="Aptos"/>
              </a:rPr>
              <a:t>Alıcı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19" y="486460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19" b="0">
                <a:solidFill>
                  <a:srgbClr val="5F6E7D"/>
                </a:solidFill>
                <a:latin typeface="Aptos"/>
              </a:rPr>
              <a:t>Uyum / finansal</a:t>
            </a:r>
          </a:p>
          <a:p>
            <a:pPr algn="ctr"/>
            <a:r>
              <a:rPr sz="919" b="0">
                <a:solidFill>
                  <a:srgbClr val="5F6E7D"/>
                </a:solidFill>
                <a:latin typeface="Aptos"/>
              </a:rPr>
              <a:t>suç yönetimi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55480" y="4315968"/>
            <a:ext cx="1737360" cy="1143000"/>
          </a:xfrm>
          <a:prstGeom prst="roundRect">
            <a:avLst/>
          </a:prstGeom>
          <a:solidFill>
            <a:srgbClr val="F5F9FD"/>
          </a:solidFill>
          <a:ln w="13970">
            <a:solidFill>
              <a:srgbClr val="C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452628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6650A0"/>
                </a:solidFill>
                <a:latin typeface="Aptos"/>
              </a:rPr>
              <a:t>Etkileyen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86460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F6E7D"/>
                </a:solidFill>
                <a:latin typeface="Aptos"/>
              </a:rPr>
              <a:t>Risk, veri ve</a:t>
            </a:r>
          </a:p>
          <a:p>
            <a:pPr algn="ctr"/>
            <a:r>
              <a:rPr sz="950" b="0">
                <a:solidFill>
                  <a:srgbClr val="5F6E7D"/>
                </a:solidFill>
                <a:latin typeface="Aptos"/>
              </a:rPr>
              <a:t>teknoloji yönetimi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5687568"/>
            <a:ext cx="10149840" cy="502920"/>
          </a:xfrm>
          <a:prstGeom prst="roundRect">
            <a:avLst/>
          </a:prstGeom>
          <a:solidFill>
            <a:srgbClr val="041B2D"/>
          </a:solidFill>
          <a:ln w="13970">
            <a:solidFill>
              <a:srgbClr val="0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4440" y="5843016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70" b="1">
                <a:solidFill>
                  <a:srgbClr val="FFFFFF"/>
                </a:solidFill>
                <a:latin typeface="Aptos"/>
              </a:rPr>
              <a:t>Konumlandırma: Riskli ağları görünür kıl; düşük riskli müşteride sürtünmeyi azalt.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601968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AAB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ARGUS · Ayşe Ulaşlı · Gizem Özcan · Samsung Innovation Campus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521440" y="651967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650">
                <a:solidFill>
                  <a:srgbClr val="A0AAB9"/>
                </a:solidFill>
                <a:latin typeface="Aptos"/>
              </a:rPr>
              <a:t>13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DEĞER ÖNERİSİ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ARGUS Müşteriye Ne Satar?</a:t>
            </a:r>
            <a:endParaRPr lang="en-US" sz="2600" dirty="0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2743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200" b="1">
                <a:solidFill>
                  <a:srgbClr val="BE1C33"/>
                </a:solidFill>
                <a:latin typeface="Aptos"/>
              </a:rPr>
              <a:t>Müşteri problemi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325880"/>
            <a:ext cx="2743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200" b="1">
                <a:solidFill>
                  <a:srgbClr val="007E6F"/>
                </a:solidFill>
                <a:latin typeface="Aptos"/>
              </a:rPr>
              <a:t>ARGUS değeri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4206240" cy="502920"/>
          </a:xfrm>
          <a:prstGeom prst="roundRect">
            <a:avLst/>
          </a:prstGeom>
          <a:solidFill>
            <a:srgbClr val="FFF6F7"/>
          </a:solidFill>
          <a:ln w="13970">
            <a:solidFill>
              <a:srgbClr val="FF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92807"/>
            <a:ext cx="384048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300" b="0">
                <a:solidFill>
                  <a:srgbClr val="142D48"/>
                </a:solidFill>
                <a:latin typeface="Aptos"/>
              </a:rPr>
              <a:t>Yanlış pozitifler meşru müşteride sürtünme yaratır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20640" y="2039112"/>
            <a:ext cx="1051560" cy="0"/>
          </a:xfrm>
          <a:prstGeom prst="line">
            <a:avLst/>
          </a:prstGeom>
          <a:ln w="25400">
            <a:solidFill>
              <a:srgbClr val="CD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46520" y="1783080"/>
            <a:ext cx="4480560" cy="502920"/>
          </a:xfrm>
          <a:prstGeom prst="roundRect">
            <a:avLst/>
          </a:prstGeom>
          <a:solidFill>
            <a:srgbClr val="ECFAF8"/>
          </a:solidFill>
          <a:ln w="13970">
            <a:solidFill>
              <a:srgbClr val="86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892807"/>
            <a:ext cx="402336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300" b="0">
                <a:solidFill>
                  <a:srgbClr val="142D48"/>
                </a:solidFill>
                <a:latin typeface="Aptos"/>
              </a:rPr>
              <a:t>Düşük riskli müşteride gereksiz müdahaleyi azaltmayı hedefler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587752"/>
            <a:ext cx="4206240" cy="502920"/>
          </a:xfrm>
          <a:prstGeom prst="roundRect">
            <a:avLst/>
          </a:prstGeom>
          <a:solidFill>
            <a:srgbClr val="FFF6F7"/>
          </a:solidFill>
          <a:ln w="13970">
            <a:solidFill>
              <a:srgbClr val="FF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697480"/>
            <a:ext cx="384048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300" b="0">
                <a:solidFill>
                  <a:srgbClr val="142D48"/>
                </a:solidFill>
                <a:latin typeface="Aptos"/>
              </a:rPr>
              <a:t>Çok fazla alarm sınırlı analist kapasitesini tüketir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20640" y="2843784"/>
            <a:ext cx="1051560" cy="0"/>
          </a:xfrm>
          <a:prstGeom prst="line">
            <a:avLst/>
          </a:prstGeom>
          <a:ln w="25400">
            <a:solidFill>
              <a:srgbClr val="CD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46520" y="2587752"/>
            <a:ext cx="4480560" cy="502920"/>
          </a:xfrm>
          <a:prstGeom prst="roundRect">
            <a:avLst/>
          </a:prstGeom>
          <a:solidFill>
            <a:srgbClr val="ECFAF8"/>
          </a:solidFill>
          <a:ln w="13970">
            <a:solidFill>
              <a:srgbClr val="86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697480"/>
            <a:ext cx="402336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300" b="0">
                <a:solidFill>
                  <a:srgbClr val="142D48"/>
                </a:solidFill>
                <a:latin typeface="Aptos"/>
              </a:rPr>
              <a:t>Riskli ağları önceliklendirerek analist yükünü azaltır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92424"/>
            <a:ext cx="4206240" cy="502920"/>
          </a:xfrm>
          <a:prstGeom prst="roundRect">
            <a:avLst/>
          </a:prstGeom>
          <a:solidFill>
            <a:srgbClr val="FFF6F7"/>
          </a:solidFill>
          <a:ln w="13970">
            <a:solidFill>
              <a:srgbClr val="FF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502152"/>
            <a:ext cx="384048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300" b="0">
                <a:solidFill>
                  <a:srgbClr val="142D48"/>
                </a:solidFill>
                <a:latin typeface="Aptos"/>
              </a:rPr>
              <a:t>Tek işlem bakışı organize hesap ağlarını kaçırabilir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120640" y="3648456"/>
            <a:ext cx="1051560" cy="0"/>
          </a:xfrm>
          <a:prstGeom prst="line">
            <a:avLst/>
          </a:prstGeom>
          <a:ln w="25400">
            <a:solidFill>
              <a:srgbClr val="CD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46520" y="3392424"/>
            <a:ext cx="4480560" cy="502920"/>
          </a:xfrm>
          <a:prstGeom prst="roundRect">
            <a:avLst/>
          </a:prstGeom>
          <a:solidFill>
            <a:srgbClr val="ECFAF8"/>
          </a:solidFill>
          <a:ln w="13970">
            <a:solidFill>
              <a:srgbClr val="86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502152"/>
            <a:ext cx="402336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300" b="0">
                <a:solidFill>
                  <a:srgbClr val="142D48"/>
                </a:solidFill>
                <a:latin typeface="Aptos"/>
              </a:rPr>
              <a:t>Hesaplar arası ilişki ağını ve para akışını görünür kılar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197096"/>
            <a:ext cx="4206240" cy="502920"/>
          </a:xfrm>
          <a:prstGeom prst="roundRect">
            <a:avLst/>
          </a:prstGeom>
          <a:solidFill>
            <a:srgbClr val="FFF6F7"/>
          </a:solidFill>
          <a:ln w="13970">
            <a:solidFill>
              <a:srgbClr val="FF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306824"/>
            <a:ext cx="384048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300" b="0">
                <a:solidFill>
                  <a:srgbClr val="142D48"/>
                </a:solidFill>
                <a:latin typeface="Aptos"/>
              </a:rPr>
              <a:t>Kara kutu skorlar analistin ve kurumun güvenini azaltır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120640" y="4453128"/>
            <a:ext cx="1051560" cy="0"/>
          </a:xfrm>
          <a:prstGeom prst="line">
            <a:avLst/>
          </a:prstGeom>
          <a:ln w="25400">
            <a:solidFill>
              <a:srgbClr val="CD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446520" y="4197096"/>
            <a:ext cx="4480560" cy="502920"/>
          </a:xfrm>
          <a:prstGeom prst="roundRect">
            <a:avLst/>
          </a:prstGeom>
          <a:solidFill>
            <a:srgbClr val="ECFAF8"/>
          </a:solidFill>
          <a:ln w="13970">
            <a:solidFill>
              <a:srgbClr val="86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4306824"/>
            <a:ext cx="402336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300" b="0">
                <a:solidFill>
                  <a:srgbClr val="142D48"/>
                </a:solidFill>
                <a:latin typeface="Aptos"/>
              </a:rPr>
              <a:t>“Neden işaretlendi?” sorusunu kanıt iziyle açıklar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349240"/>
            <a:ext cx="9875520" cy="548640"/>
          </a:xfrm>
          <a:prstGeom prst="roundRect">
            <a:avLst/>
          </a:prstGeom>
          <a:solidFill>
            <a:srgbClr val="041B2D"/>
          </a:solidFill>
          <a:ln w="13970">
            <a:solidFill>
              <a:srgbClr val="0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486400"/>
            <a:ext cx="9418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Daha güçlü güvenlik. Daha az gereksiz müşteri sürtünmesi.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943600"/>
            <a:ext cx="941832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50" b="0">
                <a:solidFill>
                  <a:srgbClr val="8C9BAC"/>
                </a:solidFill>
                <a:latin typeface="Aptos"/>
              </a:rPr>
              <a:t>Pazarlama değeri: güven, işlem devamlılığı ve dijital müşteri deneyimi.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6601968"/>
            <a:ext cx="6949440" cy="137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650" b="0">
                <a:solidFill>
                  <a:srgbClr val="A0AAB9"/>
                </a:solidFill>
                <a:latin typeface="Aptos"/>
              </a:rPr>
              <a:t>ARGUS · Ayşe Ulaşlı · Gizem Özcan · Samsung Innovation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1440" y="6519672"/>
            <a:ext cx="320040" cy="137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650">
                <a:solidFill>
                  <a:srgbClr val="A0AAB9"/>
                </a:solidFill>
                <a:latin typeface="Apto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50292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900" b="1">
                <a:solidFill>
                  <a:srgbClr val="0E4178"/>
                </a:solidFill>
                <a:latin typeface="Aptos"/>
              </a:rPr>
              <a:t>05 · PAZARLAMA PROBLEMİ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2700" b="1">
                <a:solidFill>
                  <a:srgbClr val="142D48"/>
                </a:solidFill>
                <a:latin typeface="Aptos"/>
              </a:rPr>
              <a:t>Güvenlik–Sürtünme Dengesi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789920" cy="51206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600" b="1">
                <a:solidFill>
                  <a:srgbClr val="142D48"/>
                </a:solidFill>
                <a:latin typeface="Aptos"/>
              </a:rPr>
              <a:t>ARGUS’un doğrudan teknik problemi fraud/AML operasyonudur; pazarlama değeri ise yanlış pozitiflerin yarattığı gereksiz müşteri sürtünmesini azaltabilme potansiyelidir.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43891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200" b="1">
                <a:solidFill>
                  <a:srgbClr val="BE1C33"/>
                </a:solidFill>
                <a:latin typeface="Aptos"/>
              </a:rPr>
              <a:t>Bankada oluşan pazarlama problemi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4206240" cy="594360"/>
          </a:xfrm>
          <a:prstGeom prst="roundRect">
            <a:avLst/>
          </a:prstGeom>
          <a:solidFill>
            <a:srgbClr val="FFF6F7"/>
          </a:solidFill>
          <a:ln w="13970">
            <a:solidFill>
              <a:srgbClr val="FF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3749039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300" b="1">
                <a:solidFill>
                  <a:srgbClr val="BE1C33"/>
                </a:solidFill>
                <a:latin typeface="Aptos"/>
              </a:rPr>
              <a:t>Yanlış pozitif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69464"/>
            <a:ext cx="3749039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 b="0">
                <a:solidFill>
                  <a:srgbClr val="5D6B7C"/>
                </a:solidFill>
                <a:latin typeface="Aptos"/>
              </a:rPr>
              <a:t>Meşru müşteri riskli sanılır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80360" y="2852928"/>
            <a:ext cx="0" cy="228600"/>
          </a:xfrm>
          <a:prstGeom prst="line">
            <a:avLst/>
          </a:prstGeom>
          <a:ln w="25400">
            <a:solidFill>
              <a:srgbClr val="CD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7240" y="3063240"/>
            <a:ext cx="4206240" cy="594360"/>
          </a:xfrm>
          <a:prstGeom prst="roundRect">
            <a:avLst/>
          </a:prstGeom>
          <a:solidFill>
            <a:srgbClr val="FFF6F7"/>
          </a:solidFill>
          <a:ln w="13970">
            <a:solidFill>
              <a:srgbClr val="FF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3749039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300" b="1">
                <a:solidFill>
                  <a:srgbClr val="BE1C33"/>
                </a:solidFill>
                <a:latin typeface="Aptos"/>
              </a:rPr>
              <a:t>Gereksiz kontrol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92424"/>
            <a:ext cx="3749039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 b="0">
                <a:solidFill>
                  <a:srgbClr val="5D6B7C"/>
                </a:solidFill>
                <a:latin typeface="Aptos"/>
              </a:rPr>
              <a:t>Ek doğrulama / blokaj / gecikme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80360" y="3675888"/>
            <a:ext cx="0" cy="228600"/>
          </a:xfrm>
          <a:prstGeom prst="line">
            <a:avLst/>
          </a:prstGeom>
          <a:ln w="25400">
            <a:solidFill>
              <a:srgbClr val="CD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" y="3886200"/>
            <a:ext cx="4206240" cy="594360"/>
          </a:xfrm>
          <a:prstGeom prst="roundRect">
            <a:avLst/>
          </a:prstGeom>
          <a:solidFill>
            <a:srgbClr val="FFF6F7"/>
          </a:solidFill>
          <a:ln w="13970">
            <a:solidFill>
              <a:srgbClr val="FF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77639"/>
            <a:ext cx="3749039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300" b="1">
                <a:solidFill>
                  <a:srgbClr val="BE1C33"/>
                </a:solidFill>
                <a:latin typeface="Aptos"/>
              </a:rPr>
              <a:t>Müşteri sürtünmesi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15384"/>
            <a:ext cx="3749039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 b="0">
                <a:solidFill>
                  <a:srgbClr val="5D6B7C"/>
                </a:solidFill>
                <a:latin typeface="Aptos"/>
              </a:rPr>
              <a:t>İşlem terki, şikâyet, güven kaybı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874519"/>
            <a:ext cx="51206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200" b="1">
                <a:solidFill>
                  <a:srgbClr val="007E6F"/>
                </a:solidFill>
                <a:latin typeface="Aptos"/>
              </a:rPr>
              <a:t>ARGUS ile risk bazlı müşteri deneyimi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2240280"/>
            <a:ext cx="4846320" cy="594360"/>
          </a:xfrm>
          <a:prstGeom prst="roundRect">
            <a:avLst/>
          </a:prstGeom>
          <a:solidFill>
            <a:srgbClr val="ECFAF8"/>
          </a:solidFill>
          <a:ln w="13970">
            <a:solidFill>
              <a:srgbClr val="86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16752" y="2331720"/>
            <a:ext cx="155448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200" b="1">
                <a:solidFill>
                  <a:srgbClr val="007E6F"/>
                </a:solidFill>
                <a:latin typeface="Aptos"/>
              </a:rPr>
              <a:t>Düşük ağ riski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331720"/>
            <a:ext cx="246888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200" b="1">
                <a:solidFill>
                  <a:srgbClr val="142D48"/>
                </a:solidFill>
                <a:latin typeface="Aptos"/>
              </a:rPr>
              <a:t>Akıcı işlem deneyimi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569464"/>
            <a:ext cx="246888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 b="0">
                <a:solidFill>
                  <a:srgbClr val="5D6B7C"/>
                </a:solidFill>
                <a:latin typeface="Aptos"/>
              </a:rPr>
              <a:t>Gereksiz müdahale yok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3063240"/>
            <a:ext cx="4846320" cy="594360"/>
          </a:xfrm>
          <a:prstGeom prst="roundRect">
            <a:avLst/>
          </a:prstGeom>
          <a:solidFill>
            <a:srgbClr val="FFF8EB"/>
          </a:solidFill>
          <a:ln w="13970">
            <a:solidFill>
              <a:srgbClr val="FF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16752" y="3154680"/>
            <a:ext cx="155448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200" b="1">
                <a:solidFill>
                  <a:srgbClr val="C97100"/>
                </a:solidFill>
                <a:latin typeface="Aptos"/>
              </a:rPr>
              <a:t>Orta ağ riski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3154680"/>
            <a:ext cx="246888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200" b="1">
                <a:solidFill>
                  <a:srgbClr val="142D48"/>
                </a:solidFill>
                <a:latin typeface="Aptos"/>
              </a:rPr>
              <a:t>Uyarlanabilir doğrulama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3392424"/>
            <a:ext cx="246888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 b="0">
                <a:solidFill>
                  <a:srgbClr val="5D6B7C"/>
                </a:solidFill>
                <a:latin typeface="Aptos"/>
              </a:rPr>
              <a:t>OTP / uygulama onayı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6440" y="3886200"/>
            <a:ext cx="4846320" cy="594360"/>
          </a:xfrm>
          <a:prstGeom prst="roundRect">
            <a:avLst/>
          </a:prstGeom>
          <a:solidFill>
            <a:srgbClr val="FFF6F7"/>
          </a:solidFill>
          <a:ln w="13970">
            <a:solidFill>
              <a:srgbClr val="FF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16752" y="3977639"/>
            <a:ext cx="155448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200" b="1">
                <a:solidFill>
                  <a:srgbClr val="BE1C33"/>
                </a:solidFill>
                <a:latin typeface="Aptos"/>
              </a:rPr>
              <a:t>Yüksek ağ riski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3977639"/>
            <a:ext cx="246888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200" b="1">
                <a:solidFill>
                  <a:srgbClr val="142D48"/>
                </a:solidFill>
                <a:latin typeface="Aptos"/>
              </a:rPr>
              <a:t>Gelişmiş inceleme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4215384"/>
            <a:ext cx="246888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 b="0">
                <a:solidFill>
                  <a:srgbClr val="5D6B7C"/>
                </a:solidFill>
                <a:latin typeface="Aptos"/>
              </a:rPr>
              <a:t>Fraud/AML analistine yönlendirme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1560" y="5513832"/>
            <a:ext cx="10058400" cy="685800"/>
          </a:xfrm>
          <a:prstGeom prst="roundRect">
            <a:avLst/>
          </a:prstGeom>
          <a:solidFill>
            <a:srgbClr val="041B2D"/>
          </a:solidFill>
          <a:ln w="13970">
            <a:solidFill>
              <a:srgbClr val="0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5650992"/>
            <a:ext cx="95097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Hedef: Doğru riske daha güçlü müdahale, düşük riskli müşteriye daha az gereksiz müdahale.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925312"/>
            <a:ext cx="9509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00" b="0">
                <a:solidFill>
                  <a:srgbClr val="B2C3D2"/>
                </a:solidFill>
                <a:latin typeface="Aptos"/>
              </a:rPr>
              <a:t>Ölçüm: yanlış pozitif oranı, işlem tamamlama oranı, güvenlik kaynaklı işlem terki ve müşteri şikâyetleri.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601968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AAB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ARGUS · Ayşe Ulaşlı · Gizem Özcan · Samsung Innovation Campus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521440" y="651967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650">
                <a:solidFill>
                  <a:srgbClr val="A0AAB9"/>
                </a:solidFill>
                <a:latin typeface="Aptos"/>
              </a:rPr>
              <a:t>15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GİT-PAZARA STRATEJİSİ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Pilot-Önce Kurumsal Yolculuk</a:t>
            </a:r>
            <a:endParaRPr lang="en-US" sz="2600" dirty="0"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148840" cy="1965960"/>
          </a:xfrm>
          <a:prstGeom prst="roundRect">
            <a:avLst/>
          </a:prstGeom>
          <a:solidFill>
            <a:srgbClr val="F5F9FD"/>
          </a:solidFill>
          <a:ln w="13970">
            <a:solidFill>
              <a:srgbClr val="C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011680"/>
            <a:ext cx="320040" cy="21945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600" b="1">
                <a:solidFill>
                  <a:srgbClr val="0E4178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29968"/>
            <a:ext cx="14173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450" b="1">
                <a:solidFill>
                  <a:srgbClr val="0E4178"/>
                </a:solidFill>
                <a:latin typeface="Aptos"/>
              </a:rPr>
              <a:t>Farkındalık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78608"/>
            <a:ext cx="1691640" cy="7315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 b="0">
                <a:solidFill>
                  <a:srgbClr val="142D48"/>
                </a:solidFill>
                <a:latin typeface="Aptos"/>
              </a:rPr>
              <a:t>Dijital ve orta ölçekli bankalara yönelik LinkedIn içerikleri, AML etkinlikleri, kısa teknik rapor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1828800"/>
            <a:ext cx="2148840" cy="1965960"/>
          </a:xfrm>
          <a:prstGeom prst="roundRect">
            <a:avLst/>
          </a:prstGeom>
          <a:solidFill>
            <a:srgbClr val="ECFAF8"/>
          </a:solidFill>
          <a:ln w="13970">
            <a:solidFill>
              <a:srgbClr val="86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2011680"/>
            <a:ext cx="320040" cy="21945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600" b="1">
                <a:solidFill>
                  <a:srgbClr val="007E6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59" y="2029968"/>
            <a:ext cx="14173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450" b="1">
                <a:solidFill>
                  <a:srgbClr val="007E6F"/>
                </a:solidFill>
                <a:latin typeface="Aptos"/>
              </a:rPr>
              <a:t>İlgi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39" y="2578608"/>
            <a:ext cx="1691640" cy="7315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 b="0">
                <a:solidFill>
                  <a:srgbClr val="142D48"/>
                </a:solidFill>
                <a:latin typeface="Aptos"/>
              </a:rPr>
              <a:t>Sentetik veri üzerinde canlı şüpheli ağ demosu ve örnek vaka raporu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1828800"/>
            <a:ext cx="2148840" cy="1965960"/>
          </a:xfrm>
          <a:prstGeom prst="roundRect">
            <a:avLst/>
          </a:prstGeom>
          <a:solidFill>
            <a:srgbClr val="F6F4FF"/>
          </a:solidFill>
          <a:ln w="13970">
            <a:solidFill>
              <a:srgbClr val="CDC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1" y="2011680"/>
            <a:ext cx="320040" cy="21945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600" b="1">
                <a:solidFill>
                  <a:srgbClr val="4A3696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79" y="2029968"/>
            <a:ext cx="14173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450" b="1">
                <a:solidFill>
                  <a:srgbClr val="4A3696"/>
                </a:solidFill>
                <a:latin typeface="Aptos"/>
              </a:rPr>
              <a:t>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59" y="2578608"/>
            <a:ext cx="1691640" cy="7315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 b="0">
                <a:solidFill>
                  <a:srgbClr val="142D48"/>
                </a:solidFill>
                <a:latin typeface="Aptos"/>
              </a:rPr>
              <a:t>6–8 haftalık sınırlı kapsamlı dijital/orta ölçekli banka pilotu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1828800"/>
            <a:ext cx="2148840" cy="1965960"/>
          </a:xfrm>
          <a:prstGeom prst="roundRect">
            <a:avLst/>
          </a:prstGeom>
          <a:solidFill>
            <a:srgbClr val="FFF8EB"/>
          </a:solidFill>
          <a:ln w="13970">
            <a:solidFill>
              <a:srgbClr val="FF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1" y="2011680"/>
            <a:ext cx="320040" cy="21945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600" b="1">
                <a:solidFill>
                  <a:srgbClr val="C97100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029968"/>
            <a:ext cx="14173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450" b="1">
                <a:solidFill>
                  <a:srgbClr val="C97100"/>
                </a:solidFill>
                <a:latin typeface="Aptos"/>
              </a:rPr>
              <a:t>Kanıt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578608"/>
            <a:ext cx="1691640" cy="7315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 b="0">
                <a:solidFill>
                  <a:srgbClr val="142D48"/>
                </a:solidFill>
                <a:latin typeface="Aptos"/>
              </a:rPr>
              <a:t>Recall@K, yanlış pozitif azalması, analist-saat tasarrufu ve CX etkisi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1828800"/>
            <a:ext cx="2148840" cy="1965960"/>
          </a:xfrm>
          <a:prstGeom prst="roundRect">
            <a:avLst/>
          </a:prstGeom>
          <a:solidFill>
            <a:srgbClr val="FFF6F7"/>
          </a:solidFill>
          <a:ln w="13970">
            <a:solidFill>
              <a:srgbClr val="FF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94392" y="2011680"/>
            <a:ext cx="320040" cy="21945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600" b="1">
                <a:solidFill>
                  <a:srgbClr val="BE1C33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2029968"/>
            <a:ext cx="14173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450" b="1">
                <a:solidFill>
                  <a:srgbClr val="BE1C33"/>
                </a:solidFill>
                <a:latin typeface="Aptos"/>
              </a:rPr>
              <a:t>Ticari dönüşüm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578608"/>
            <a:ext cx="1691640" cy="7315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 b="0">
                <a:solidFill>
                  <a:srgbClr val="142D48"/>
                </a:solidFill>
                <a:latin typeface="Aptos"/>
              </a:rPr>
              <a:t>Yıllık kurumsal lisans veya kurum içinde kurulum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343400"/>
            <a:ext cx="18288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200" b="1">
                <a:solidFill>
                  <a:srgbClr val="0E4178"/>
                </a:solidFill>
                <a:latin typeface="Aptos"/>
              </a:rPr>
              <a:t>Kanıt paketi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09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30" b="0">
                <a:solidFill>
                  <a:srgbClr val="142D48"/>
                </a:solidFill>
                <a:latin typeface="Aptos"/>
              </a:rPr>
              <a:t>• Model performansı: PR-AUC, Recall@K, precision, yanlış alarm oranı</a:t>
            </a:r>
          </a:p>
          <a:p>
            <a:pPr>
              <a:spcAft>
                <a:spcPts val="200"/>
              </a:spcAft>
            </a:pPr>
            <a:r>
              <a:rPr sz="1130" b="0">
                <a:solidFill>
                  <a:srgbClr val="142D48"/>
                </a:solidFill>
                <a:latin typeface="Aptos"/>
              </a:rPr>
              <a:t>• İş etkisi: analist-saat tasarrufu, vaka başına maliyet, öncelikli finansal maruziyet</a:t>
            </a:r>
          </a:p>
          <a:p>
            <a:pPr>
              <a:spcAft>
                <a:spcPts val="200"/>
              </a:spcAft>
            </a:pPr>
            <a:r>
              <a:rPr sz="1130" b="0">
                <a:solidFill>
                  <a:srgbClr val="142D48"/>
                </a:solidFill>
                <a:latin typeface="Aptos"/>
              </a:rPr>
              <a:t>• CX/pazarlama etkisi: yanlış pozitif azalması, işlem tamamlama oranı, güvenlik kaynaklı terk</a:t>
            </a:r>
          </a:p>
          <a:p>
            <a:pPr>
              <a:spcAft>
                <a:spcPts val="200"/>
              </a:spcAft>
            </a:pPr>
            <a:r>
              <a:rPr sz="1130" b="0">
                <a:solidFill>
                  <a:srgbClr val="142D48"/>
                </a:solidFill>
                <a:latin typeface="Aptos"/>
              </a:rPr>
              <a:t>• Satış etkisi: demo → pilot, pilot → ücretli dönüşüm, satış döngüsü uzunluğu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897880"/>
            <a:ext cx="9875520" cy="347472"/>
          </a:xfrm>
          <a:prstGeom prst="roundRect">
            <a:avLst/>
          </a:prstGeom>
          <a:solidFill>
            <a:srgbClr val="041B2D"/>
          </a:solidFill>
          <a:ln w="13970">
            <a:solidFill>
              <a:srgbClr val="0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989320"/>
            <a:ext cx="9418320" cy="1645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İlk satış odağı: dijital bankalar ve orta ölçekli bankalar; hedef kapsam bankacılık işlem verisiyle uyumlu tutulur.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601968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AAB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ARGUS · Ayşe Ulaşlı · Gizem Özcan · Samsung Innovation Campus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521440" y="651967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650">
                <a:solidFill>
                  <a:srgbClr val="A0AAB9"/>
                </a:solidFill>
                <a:latin typeface="Aptos"/>
              </a:rPr>
              <a:t>16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ÖLÇÜM ÇERÇEVESİ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Model, İş ve Pazarlama Metrikleri</a:t>
            </a:r>
            <a:endParaRPr lang="en-US" sz="2600" dirty="0"/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3337560" cy="4206240"/>
          </a:xfrm>
          <a:prstGeom prst="roundRect">
            <a:avLst/>
          </a:prstGeom>
          <a:solidFill>
            <a:srgbClr val="F5F9FD"/>
          </a:solidFill>
          <a:ln w="13970">
            <a:solidFill>
              <a:srgbClr val="C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28346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500" b="1">
                <a:solidFill>
                  <a:srgbClr val="0E4178"/>
                </a:solidFill>
                <a:latin typeface="Aptos"/>
              </a:rPr>
              <a:t>Model Başarı Göstergeleri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50592"/>
            <a:ext cx="2651760" cy="14630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150" b="1">
                <a:solidFill>
                  <a:srgbClr val="142D48"/>
                </a:solidFill>
                <a:latin typeface="Aptos"/>
              </a:rPr>
              <a:t>PR-AUC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06624"/>
            <a:ext cx="2651760" cy="23774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960" b="0">
                <a:solidFill>
                  <a:srgbClr val="5D6B7C"/>
                </a:solidFill>
                <a:latin typeface="Aptos"/>
              </a:rPr>
              <a:t>Dengesiz fraud verisinde ana metrik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01568"/>
            <a:ext cx="2651760" cy="14630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150" b="1">
                <a:solidFill>
                  <a:srgbClr val="142D48"/>
                </a:solidFill>
                <a:latin typeface="Aptos"/>
              </a:rPr>
              <a:t>Recall@K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57600"/>
            <a:ext cx="2651760" cy="23774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960" b="0">
                <a:solidFill>
                  <a:srgbClr val="5D6B7C"/>
                </a:solidFill>
                <a:latin typeface="Aptos"/>
              </a:rPr>
              <a:t>İlk K vakada yakalanan şüpheli ağ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352544"/>
            <a:ext cx="2651760" cy="14630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150" b="1">
                <a:solidFill>
                  <a:srgbClr val="142D48"/>
                </a:solidFill>
                <a:latin typeface="Aptos"/>
              </a:rPr>
              <a:t>Yanlış alarm oranı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608576"/>
            <a:ext cx="2651760" cy="23774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960" b="0">
                <a:solidFill>
                  <a:srgbClr val="5D6B7C"/>
                </a:solidFill>
                <a:latin typeface="Aptos"/>
              </a:rPr>
              <a:t>Gereksiz inceleme ve sürtünme sinyali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600200"/>
            <a:ext cx="3337560" cy="4206240"/>
          </a:xfrm>
          <a:prstGeom prst="roundRect">
            <a:avLst/>
          </a:prstGeom>
          <a:solidFill>
            <a:srgbClr val="ECFAF8"/>
          </a:solidFill>
          <a:ln w="13970">
            <a:solidFill>
              <a:srgbClr val="86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874519"/>
            <a:ext cx="28346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500" b="1">
                <a:solidFill>
                  <a:srgbClr val="007E6F"/>
                </a:solidFill>
                <a:latin typeface="Aptos"/>
              </a:rPr>
              <a:t>İş / Operasyon Göstergeleri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450592"/>
            <a:ext cx="2651760" cy="14630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150" b="1">
                <a:solidFill>
                  <a:srgbClr val="142D48"/>
                </a:solidFill>
                <a:latin typeface="Aptos"/>
              </a:rPr>
              <a:t>Analist-saat tasarrufu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706624"/>
            <a:ext cx="2651760" cy="23774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960" b="0">
                <a:solidFill>
                  <a:srgbClr val="5D6B7C"/>
                </a:solidFill>
                <a:latin typeface="Aptos"/>
              </a:rPr>
              <a:t>Önceliklendirme ile kazanılan zaman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401568"/>
            <a:ext cx="2651760" cy="14630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150" b="1">
                <a:solidFill>
                  <a:srgbClr val="142D48"/>
                </a:solidFill>
                <a:latin typeface="Aptos"/>
              </a:rPr>
              <a:t>Vaka başı maliyet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657600"/>
            <a:ext cx="2651760" cy="23774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960" b="0">
                <a:solidFill>
                  <a:srgbClr val="5D6B7C"/>
                </a:solidFill>
                <a:latin typeface="Aptos"/>
              </a:rPr>
              <a:t>İncelemenin operasyon maliyeti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4352544"/>
            <a:ext cx="2651760" cy="14630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150" b="1">
                <a:solidFill>
                  <a:srgbClr val="142D48"/>
                </a:solidFill>
                <a:latin typeface="Aptos"/>
              </a:rPr>
              <a:t>Öncelikli maruziyet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608576"/>
            <a:ext cx="2651760" cy="23774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960" b="0">
                <a:solidFill>
                  <a:srgbClr val="5D6B7C"/>
                </a:solidFill>
                <a:latin typeface="Aptos"/>
              </a:rPr>
              <a:t>İlk sıraya alınan riskli finansal tutar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1600200"/>
            <a:ext cx="3337560" cy="4206240"/>
          </a:xfrm>
          <a:prstGeom prst="roundRect">
            <a:avLst/>
          </a:prstGeom>
          <a:solidFill>
            <a:srgbClr val="FFF6F7"/>
          </a:solidFill>
          <a:ln w="13970">
            <a:solidFill>
              <a:srgbClr val="FF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1874519"/>
            <a:ext cx="28346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500" b="1">
                <a:solidFill>
                  <a:srgbClr val="BE1C33"/>
                </a:solidFill>
                <a:latin typeface="Aptos"/>
              </a:rPr>
              <a:t>Pazarlama / CX Göstergeleri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331720"/>
            <a:ext cx="2651760" cy="14630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80" b="1">
                <a:solidFill>
                  <a:srgbClr val="142D48"/>
                </a:solidFill>
                <a:latin typeface="Aptos"/>
              </a:rPr>
              <a:t>Yanlış pozitif azalması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551176"/>
            <a:ext cx="2651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880" b="0">
                <a:solidFill>
                  <a:srgbClr val="5D6B7C"/>
                </a:solidFill>
                <a:latin typeface="Aptos"/>
              </a:rPr>
              <a:t>Meşru müşteride gereksiz kontrol azalır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081528"/>
            <a:ext cx="2651760" cy="14630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80" b="1">
                <a:solidFill>
                  <a:srgbClr val="142D48"/>
                </a:solidFill>
                <a:latin typeface="Aptos"/>
              </a:rPr>
              <a:t>İşlem tamamlama oranı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300984"/>
            <a:ext cx="2651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880" b="0">
                <a:solidFill>
                  <a:srgbClr val="5D6B7C"/>
                </a:solidFill>
                <a:latin typeface="Aptos"/>
              </a:rPr>
              <a:t>Sürtünmesiz deneyim göstergesi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831336"/>
            <a:ext cx="2651760" cy="14630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80" b="1">
                <a:solidFill>
                  <a:srgbClr val="142D48"/>
                </a:solidFill>
                <a:latin typeface="Aptos"/>
              </a:rPr>
              <a:t>Güvenlik kaynaklı terk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050792"/>
            <a:ext cx="2651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880" b="0">
                <a:solidFill>
                  <a:srgbClr val="5D6B7C"/>
                </a:solidFill>
                <a:latin typeface="Aptos"/>
              </a:rPr>
              <a:t>Ek doğrulama/blokaj sonrası kayıp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581144"/>
            <a:ext cx="2651760" cy="14630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80" b="1">
                <a:solidFill>
                  <a:srgbClr val="142D48"/>
                </a:solidFill>
                <a:latin typeface="Aptos"/>
              </a:rPr>
              <a:t>Demo → pilot / pilot → ücretli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800600"/>
            <a:ext cx="2651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880" b="0">
                <a:solidFill>
                  <a:srgbClr val="5D6B7C"/>
                </a:solidFill>
                <a:latin typeface="Aptos"/>
              </a:rPr>
              <a:t>Ticari doğrulama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601968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AAB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ARGUS · Ayşe Ulaşlı · Gizem Özcan · Samsung Innovation Campus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521440" y="651967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650">
                <a:solidFill>
                  <a:srgbClr val="A0AAB9"/>
                </a:solidFill>
                <a:latin typeface="Aptos"/>
              </a:rPr>
              <a:t>17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VERİ VE YÖNTEM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Uygulanabilir Teknik Kapsam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10789920" cy="566928"/>
          </a:xfrm>
          <a:prstGeom prst="rect">
            <a:avLst/>
          </a:prstGeom>
          <a:solidFill>
            <a:srgbClr val="071A2D"/>
          </a:solidFill>
          <a:ln w="8890">
            <a:solidFill>
              <a:srgbClr val="DDE8F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95528" y="166420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Katman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2624328" y="1664208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Veri / yöntem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6647688" y="166420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</a:rPr>
              <a:t>Amaç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685800" y="2075688"/>
            <a:ext cx="10789920" cy="566928"/>
          </a:xfrm>
          <a:prstGeom prst="rect">
            <a:avLst/>
          </a:prstGeom>
          <a:solidFill>
            <a:srgbClr val="F4F8FC"/>
          </a:solidFill>
          <a:ln w="8890">
            <a:solidFill>
              <a:srgbClr val="DDE8F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95528" y="223113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17324D"/>
                </a:solidFill>
              </a:rPr>
              <a:t>Ana veri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2624328" y="2231136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7324D"/>
                </a:solidFill>
              </a:rPr>
              <a:t>IBM AML sentetik işlem verisi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6647688" y="2231136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7324D"/>
                </a:solidFill>
              </a:rPr>
              <a:t>Etiketli AML ağı, kişisel veri içermez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685800" y="2642616"/>
            <a:ext cx="10789920" cy="566928"/>
          </a:xfrm>
          <a:prstGeom prst="rect">
            <a:avLst/>
          </a:prstGeom>
          <a:solidFill>
            <a:srgbClr val="FAFCFF"/>
          </a:solidFill>
          <a:ln w="8890">
            <a:solidFill>
              <a:srgbClr val="DDE8F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95528" y="279806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000" b="1">
                <a:solidFill>
                  <a:srgbClr val="17324D"/>
                </a:solidFill>
              </a:rPr>
              <a:t>Destek veri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2624328" y="2798064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7324D"/>
                </a:solidFill>
              </a:rPr>
              <a:t>PaySim mobil para simülasyonu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6647688" y="2798064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000">
                <a:solidFill>
                  <a:srgbClr val="17324D"/>
                </a:solidFill>
              </a:rPr>
              <a:t>Farklı işlem dağılımında stres testi; hedef segment kanıtı değildir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685800" y="3209544"/>
            <a:ext cx="10789920" cy="566928"/>
          </a:xfrm>
          <a:prstGeom prst="rect">
            <a:avLst/>
          </a:prstGeom>
          <a:solidFill>
            <a:srgbClr val="F4F8FC"/>
          </a:solidFill>
          <a:ln w="8890">
            <a:solidFill>
              <a:srgbClr val="DDE8F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95528" y="3364992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17324D"/>
                </a:solidFill>
              </a:rPr>
              <a:t>Referans model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2624328" y="3364992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7324D"/>
                </a:solidFill>
              </a:rPr>
              <a:t>Lojistik regresyon, rastgele orman, XGBoost/LightGBM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6647688" y="3364992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7324D"/>
                </a:solidFill>
              </a:rPr>
              <a:t>İşlem bazlı performans tabanı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685800" y="3776472"/>
            <a:ext cx="10789920" cy="566928"/>
          </a:xfrm>
          <a:prstGeom prst="rect">
            <a:avLst/>
          </a:prstGeom>
          <a:solidFill>
            <a:srgbClr val="FAFCFF"/>
          </a:solidFill>
          <a:ln w="8890">
            <a:solidFill>
              <a:srgbClr val="DDE8F4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95528" y="393192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17324D"/>
                </a:solidFill>
              </a:rPr>
              <a:t>Graf modeli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2624328" y="3931920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7324D"/>
                </a:solidFill>
              </a:rPr>
              <a:t>GCN / GAT / GraphSAGE; ileri: R-GCN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6647688" y="3931920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7324D"/>
                </a:solidFill>
              </a:rPr>
              <a:t>Koordineli ağ davranışını yakalamak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685800" y="4343400"/>
            <a:ext cx="10789920" cy="566928"/>
          </a:xfrm>
          <a:prstGeom prst="rect">
            <a:avLst/>
          </a:prstGeom>
          <a:solidFill>
            <a:srgbClr val="F4F8FC"/>
          </a:solidFill>
          <a:ln w="8890">
            <a:solidFill>
              <a:srgbClr val="DDE8F4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95528" y="449884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17324D"/>
                </a:solidFill>
              </a:rPr>
              <a:t>Bonus katman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2624328" y="4498848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7324D"/>
                </a:solidFill>
              </a:rPr>
              <a:t>Anomali tespiti + optimizasyon + vaka özeti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6647688" y="449884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7324D"/>
                </a:solidFill>
              </a:rPr>
              <a:t>Yeni örüntü, kaynak tahsisi ve açıklama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502920" y="6355080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dirty="0">
                <a:solidFill>
                  <a:srgbClr val="667085"/>
                </a:solidFill>
              </a:rPr>
              <a:t>Kaynak: IBM Research AML sentetik finansal işlemler; IBM Multi-GNN; PaySim literatürü</a:t>
            </a:r>
            <a:endParaRPr lang="en-US" sz="5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601968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AAB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ARGUS · Ayşe Ulaşlı · Gizem Özcan · Samsung Innovation Campus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521440" y="651967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650">
                <a:solidFill>
                  <a:srgbClr val="A0AAB9"/>
                </a:solidFill>
                <a:latin typeface="Aptos"/>
              </a:rPr>
              <a:t>18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İZLENECEK YOL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Dört Aşamalı Proje Planı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965960" y="1783080"/>
            <a:ext cx="1508760" cy="0"/>
          </a:xfrm>
          <a:prstGeom prst="line">
            <a:avLst/>
          </a:prstGeom>
          <a:noFill/>
          <a:ln w="25400">
            <a:solidFill>
              <a:srgbClr val="DDE8F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37260" y="1531620"/>
            <a:ext cx="502920" cy="502920"/>
          </a:xfrm>
          <a:prstGeom prst="ellipse">
            <a:avLst/>
          </a:prstGeom>
          <a:solidFill>
            <a:srgbClr val="153E73"/>
          </a:solidFill>
          <a:ln w="1524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37260" y="170992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3E73"/>
                </a:solidFill>
              </a:rPr>
              <a:t>Aşama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2487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Veri ve referans model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852928"/>
            <a:ext cx="2240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IBM AML / PaySim hazırlığı, keşifsel analiz, XGBoost/LightGBM referans model.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00600" y="1783080"/>
            <a:ext cx="1508760" cy="0"/>
          </a:xfrm>
          <a:prstGeom prst="line">
            <a:avLst/>
          </a:prstGeom>
          <a:noFill/>
          <a:ln w="25400">
            <a:solidFill>
              <a:srgbClr val="DDE8F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771900" y="1531620"/>
            <a:ext cx="502920" cy="502920"/>
          </a:xfrm>
          <a:prstGeom prst="ellipse">
            <a:avLst/>
          </a:prstGeom>
          <a:solidFill>
            <a:srgbClr val="087F73"/>
          </a:solidFill>
          <a:ln w="1524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771900" y="170992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03320" y="214884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7F73"/>
                </a:solidFill>
              </a:rPr>
              <a:t>Aşama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566160" y="2487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Finansal graf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2852928"/>
            <a:ext cx="2240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Hesap-işlem grafı, PageRank, merkezilik, fan-in/out ve topluluk özellikleri.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635240" y="1783080"/>
            <a:ext cx="1508760" cy="0"/>
          </a:xfrm>
          <a:prstGeom prst="line">
            <a:avLst/>
          </a:prstGeom>
          <a:noFill/>
          <a:ln w="25400">
            <a:solidFill>
              <a:srgbClr val="DDE8F4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606540" y="1531620"/>
            <a:ext cx="502920" cy="502920"/>
          </a:xfrm>
          <a:prstGeom prst="ellipse">
            <a:avLst/>
          </a:prstGeom>
          <a:solidFill>
            <a:srgbClr val="4936A8"/>
          </a:solidFill>
          <a:ln w="1524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606540" y="170992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37960" y="214884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936A8"/>
                </a:solidFill>
              </a:rPr>
              <a:t>Aşama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0" y="2487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Graf yapay zekâ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2852928"/>
            <a:ext cx="2240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Graf sinir ağı denemeleri, şüpheli hesap ağı tespiti, açıklama katmanı.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469880" y="1783080"/>
            <a:ext cx="15087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441180" y="1531620"/>
            <a:ext cx="502920" cy="502920"/>
          </a:xfrm>
          <a:prstGeom prst="ellipse">
            <a:avLst/>
          </a:prstGeom>
          <a:solidFill>
            <a:srgbClr val="B42336"/>
          </a:solidFill>
          <a:ln w="1524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441180" y="170992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372600" y="214884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2336"/>
                </a:solidFill>
              </a:rPr>
              <a:t>Aşama 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235440" y="2487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Ürün ve sunum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89720" y="2852928"/>
            <a:ext cx="2240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Streamlit inceleme paneli, pazarlama paketi, jüri sunumu.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097280" y="4617720"/>
            <a:ext cx="9966960" cy="822960"/>
          </a:xfrm>
          <a:prstGeom prst="roundRect">
            <a:avLst>
              <a:gd name="adj" fmla="val 5556"/>
            </a:avLst>
          </a:prstGeom>
          <a:solidFill>
            <a:srgbClr val="F7FAFE"/>
          </a:solidFill>
          <a:ln w="12700">
            <a:solidFill>
              <a:srgbClr val="DDE8F4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417320" y="48280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3E73"/>
                </a:solidFill>
              </a:rPr>
              <a:t>Ekip rolleri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971800" y="4828032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7324D"/>
                </a:solidFill>
              </a:rPr>
              <a:t>Ayşe Ulaşlı: graf modelleme, Graf sinir ağı denemeleri, önceliklendirme optimizasyonu.  ·  Gizem Özcan: açıklanabilirlik, üretken yapay zekâ entegrasyonu, panel ve pazarlama sunumu.</a:t>
            </a:r>
            <a:endParaRPr lang="en-US" sz="9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601968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AAB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ARGUS · Ayşe Ulaşlı · Gizem Özcan · Samsung Innovation Campus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521440" y="651967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650">
                <a:solidFill>
                  <a:srgbClr val="A0AAB9"/>
                </a:solidFill>
                <a:latin typeface="Aptos"/>
              </a:rPr>
              <a:t>19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BEKLENEN SONUÇ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Güvenli Kapsam, Kontrollü Karar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3337560" cy="3154680"/>
          </a:xfrm>
          <a:prstGeom prst="roundRect">
            <a:avLst>
              <a:gd name="adj" fmla="val 1449"/>
            </a:avLst>
          </a:prstGeom>
          <a:solidFill>
            <a:srgbClr val="F7FAFE"/>
          </a:solidFill>
          <a:ln w="12700">
            <a:solidFill>
              <a:srgbClr val="DDE8F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18288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3E73"/>
                </a:solidFill>
              </a:rPr>
              <a:t>Çıktılar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331720"/>
            <a:ext cx="26974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7324D"/>
                </a:solidFill>
              </a:rPr>
              <a:t>Eğitilmiş referans model + graf modeli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7324D"/>
                </a:solidFill>
              </a:rPr>
              <a:t>Şüpheli ağ görselleştirme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7324D"/>
                </a:solidFill>
              </a:rPr>
              <a:t>Açıklanabilir vaka notu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7324D"/>
                </a:solidFill>
              </a:rPr>
              <a:t>Analist önceliklendirme paneli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572000" y="1554480"/>
            <a:ext cx="3337560" cy="3154680"/>
          </a:xfrm>
          <a:prstGeom prst="roundRect">
            <a:avLst>
              <a:gd name="adj" fmla="val 1449"/>
            </a:avLst>
          </a:prstGeom>
          <a:solidFill>
            <a:srgbClr val="FFF7F8"/>
          </a:solidFill>
          <a:ln w="12700">
            <a:solidFill>
              <a:srgbClr val="FFD5D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800600" y="18288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2336"/>
                </a:solidFill>
              </a:rPr>
              <a:t>Sorumlu yapay zekâ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2331720"/>
            <a:ext cx="26974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7324D"/>
                </a:solidFill>
              </a:rPr>
              <a:t>İnsan denetimli karar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7324D"/>
                </a:solidFill>
              </a:rPr>
              <a:t>“Suçlu” değil, “inceleme önceliği”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7324D"/>
                </a:solidFill>
              </a:rPr>
              <a:t>Gizlilik ve mevzuat sınırları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7324D"/>
                </a:solidFill>
              </a:rPr>
              <a:t>Yanlış alarm etkisi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8366760" y="1554480"/>
            <a:ext cx="3337560" cy="3154680"/>
          </a:xfrm>
          <a:prstGeom prst="roundRect">
            <a:avLst>
              <a:gd name="adj" fmla="val 1449"/>
            </a:avLst>
          </a:prstGeom>
          <a:solidFill>
            <a:srgbClr val="F0FBFA"/>
          </a:solidFill>
          <a:ln w="12700">
            <a:solidFill>
              <a:srgbClr val="CBEC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595360" y="18288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7F73"/>
                </a:solidFill>
              </a:rPr>
              <a:t>Minimum teslim kapsamı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0" y="2331720"/>
            <a:ext cx="26974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7324D"/>
                </a:solidFill>
              </a:rPr>
              <a:t>Veri hazırlığı + EDA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7324D"/>
                </a:solidFill>
              </a:rPr>
              <a:t>İşlem bazlı referans model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7324D"/>
                </a:solidFill>
              </a:rPr>
              <a:t>Finansal graf + graf özellikleri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7324D"/>
                </a:solidFill>
              </a:rPr>
              <a:t>GNN denemesi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7324D"/>
                </a:solidFill>
              </a:rPr>
              <a:t>Streamlit paneli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005840" y="5394960"/>
            <a:ext cx="10149840" cy="475488"/>
          </a:xfrm>
          <a:prstGeom prst="roundRect">
            <a:avLst>
              <a:gd name="adj" fmla="val 9615"/>
            </a:avLst>
          </a:prstGeom>
          <a:solidFill>
            <a:srgbClr val="071A2D"/>
          </a:solidFill>
          <a:ln w="12700">
            <a:solidFill>
              <a:srgbClr val="071A2D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234440" y="5577840"/>
            <a:ext cx="9692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FFFFFF"/>
                </a:solidFill>
              </a:rPr>
              <a:t>Final mesajı: ARGUS tek işlemi değil, işlemlerin arkasındaki ağı anlayan açıklanabilir bir finansal suç istihbarat sistemi kanıtıdır.</a:t>
            </a:r>
            <a:endParaRPr lang="en-US" sz="11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601968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A6B4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ARGUS · Ayşe Ulaşlı · Gizem Özcan · Samsung Innovation Campus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11521440" y="651967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650">
                <a:solidFill>
                  <a:srgbClr val="A0AAB9"/>
                </a:solidFill>
                <a:latin typeface="Aptos"/>
              </a:rPr>
              <a:t>20</a:t>
            </a:r>
            <a:endParaRPr lang="en-US" sz="600" dirty="0"/>
          </a:p>
        </p:txBody>
      </p:sp>
      <p:sp>
        <p:nvSpPr>
          <p:cNvPr id="4" name="Shape 2"/>
          <p:cNvSpPr/>
          <p:nvPr/>
        </p:nvSpPr>
        <p:spPr>
          <a:xfrm>
            <a:off x="8229600" y="914400"/>
            <a:ext cx="3474720" cy="3474720"/>
          </a:xfrm>
          <a:prstGeom prst="ellipse">
            <a:avLst/>
          </a:prstGeom>
          <a:solidFill>
            <a:srgbClr val="1B4E8A">
              <a:alpha val="18000"/>
            </a:srgbClr>
          </a:solidFill>
          <a:ln w="12700">
            <a:solidFill>
              <a:srgbClr val="1B4E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869680" y="1325880"/>
            <a:ext cx="2103120" cy="2103120"/>
          </a:xfrm>
          <a:prstGeom prst="arc">
            <a:avLst/>
          </a:prstGeom>
          <a:noFill/>
          <a:ln w="101600">
            <a:solidFill>
              <a:srgbClr val="087F73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6060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Teşekkürler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41832" y="31272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0F0"/>
                </a:solidFill>
              </a:rPr>
              <a:t>Sorularınızı bekliyoruz.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41832" y="4023360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7F73"/>
                </a:solidFill>
              </a:rPr>
              <a:t>ARGUS · Graf Tabanlı Finansal Suç ve Hesap Ağı İstihbaratı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19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Samsung Innovation Campus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ARGUS — Graf Tabanlı Finansal Suç İstihbaratı</dc:title>
  <dc:subject>ARGUS AI Capstone</dc:subject>
  <dc:creator>OpenAI</dc:creator>
  <cp:lastModifiedBy>OpenAI</cp:lastModifiedBy>
  <cp:revision>25</cp:revision>
  <dcterms:created xsi:type="dcterms:W3CDTF">2026-08-09T07:14:04Z</dcterms:created>
  <dcterms:modified xsi:type="dcterms:W3CDTF">2026-08-09T07:21:40Z</dcterms:modified>
</cp:coreProperties>
</file>